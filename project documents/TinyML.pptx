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2" r:id="rId1"/>
  </p:sldMasterIdLst>
  <p:notesMasterIdLst>
    <p:notesMasterId r:id="rId16"/>
  </p:notesMasterIdLst>
  <p:sldIdLst>
    <p:sldId id="256" r:id="rId2"/>
    <p:sldId id="277" r:id="rId3"/>
    <p:sldId id="257" r:id="rId4"/>
    <p:sldId id="262" r:id="rId5"/>
    <p:sldId id="259" r:id="rId6"/>
    <p:sldId id="261" r:id="rId7"/>
    <p:sldId id="263" r:id="rId8"/>
    <p:sldId id="265" r:id="rId9"/>
    <p:sldId id="293" r:id="rId10"/>
    <p:sldId id="285" r:id="rId11"/>
    <p:sldId id="292" r:id="rId12"/>
    <p:sldId id="294" r:id="rId13"/>
    <p:sldId id="268" r:id="rId14"/>
    <p:sldId id="27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FE1"/>
    <a:srgbClr val="FFEBF3"/>
    <a:srgbClr val="FFFFCC"/>
    <a:srgbClr val="990000"/>
    <a:srgbClr val="CCCCFF"/>
    <a:srgbClr val="FFFF99"/>
    <a:srgbClr val="333E50"/>
    <a:srgbClr val="9BC5ED"/>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65" autoAdjust="0"/>
    <p:restoredTop sz="95033" autoAdjust="0"/>
  </p:normalViewPr>
  <p:slideViewPr>
    <p:cSldViewPr>
      <p:cViewPr>
        <p:scale>
          <a:sx n="80" d="100"/>
          <a:sy n="80" d="100"/>
        </p:scale>
        <p:origin x="941"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757F3C-7896-49D5-895F-7E47BD60B5D1}" type="datetimeFigureOut">
              <a:rPr lang="en-IN" smtClean="0"/>
              <a:t>05-08-2026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B2E43D-0181-453F-AE54-37DC22FF8704}" type="slidenum">
              <a:rPr lang="en-IN" smtClean="0"/>
              <a:t>‹#›</a:t>
            </a:fld>
            <a:endParaRPr lang="en-IN"/>
          </a:p>
        </p:txBody>
      </p:sp>
    </p:spTree>
    <p:extLst>
      <p:ext uri="{BB962C8B-B14F-4D97-AF65-F5344CB8AC3E}">
        <p14:creationId xmlns:p14="http://schemas.microsoft.com/office/powerpoint/2010/main" val="2344410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FB2E43D-0181-453F-AE54-37DC22FF8704}" type="slidenum">
              <a:rPr lang="en-IN" smtClean="0"/>
              <a:t>1</a:t>
            </a:fld>
            <a:endParaRPr lang="en-IN"/>
          </a:p>
        </p:txBody>
      </p:sp>
    </p:spTree>
    <p:extLst>
      <p:ext uri="{BB962C8B-B14F-4D97-AF65-F5344CB8AC3E}">
        <p14:creationId xmlns:p14="http://schemas.microsoft.com/office/powerpoint/2010/main" val="3747503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867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ectangle 1"/>
          <p:cNvSpPr/>
          <p:nvPr userDrawn="1"/>
        </p:nvSpPr>
        <p:spPr>
          <a:xfrm>
            <a:off x="0" y="490364"/>
            <a:ext cx="611560" cy="6367635"/>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userDrawn="1"/>
        </p:nvSpPr>
        <p:spPr>
          <a:xfrm rot="16200000" flipH="1">
            <a:off x="-1954337" y="3311437"/>
            <a:ext cx="4464556" cy="523220"/>
          </a:xfrm>
          <a:prstGeom prst="rect">
            <a:avLst/>
          </a:prstGeom>
        </p:spPr>
        <p:txBody>
          <a:bodyPr wrap="none">
            <a:spAutoFit/>
          </a:bodyPr>
          <a:lstStyle/>
          <a:p>
            <a:r>
              <a:rPr lang="en-US" sz="2800" dirty="0"/>
              <a:t>TSSM’s BSCOER,</a:t>
            </a:r>
            <a:r>
              <a:rPr lang="en-US" sz="2800" baseline="0" dirty="0"/>
              <a:t> E &amp; Tc. Dept.</a:t>
            </a:r>
            <a:endParaRPr lang="en-IN" sz="2800" dirty="0"/>
          </a:p>
        </p:txBody>
      </p:sp>
      <p:sp>
        <p:nvSpPr>
          <p:cNvPr id="11" name="Title 1"/>
          <p:cNvSpPr txBox="1">
            <a:spLocks/>
          </p:cNvSpPr>
          <p:nvPr userDrawn="1"/>
        </p:nvSpPr>
        <p:spPr>
          <a:xfrm>
            <a:off x="0" y="-58316"/>
            <a:ext cx="9144000" cy="548680"/>
          </a:xfrm>
          <a:prstGeom prst="rect">
            <a:avLst/>
          </a:prstGeom>
          <a:solidFill>
            <a:schemeClr val="accent2"/>
          </a:solidFill>
        </p:spPr>
        <p:txBody>
          <a:bodyPr anchor="t" anchorCtr="0">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sz="4000" b="1" dirty="0">
              <a:solidFill>
                <a:schemeClr val="bg1"/>
              </a:solidFill>
              <a:latin typeface="+mn-lt"/>
              <a:cs typeface="Times New Roman" pitchFamily="18" charset="0"/>
            </a:endParaRPr>
          </a:p>
        </p:txBody>
      </p:sp>
      <p:sp>
        <p:nvSpPr>
          <p:cNvPr id="12" name="Title 1"/>
          <p:cNvSpPr txBox="1">
            <a:spLocks/>
          </p:cNvSpPr>
          <p:nvPr userDrawn="1"/>
        </p:nvSpPr>
        <p:spPr>
          <a:xfrm>
            <a:off x="6971" y="6669360"/>
            <a:ext cx="9144000" cy="188640"/>
          </a:xfrm>
          <a:prstGeom prst="rect">
            <a:avLst/>
          </a:prstGeom>
          <a:solidFill>
            <a:schemeClr val="accent2"/>
          </a:solidFill>
        </p:spPr>
        <p:txBody>
          <a:bodyPr anchor="t" anchorCtr="0">
            <a:normAutofit fontScale="250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sz="4000" b="1" dirty="0">
              <a:solidFill>
                <a:schemeClr val="bg1"/>
              </a:solidFill>
              <a:latin typeface="+mn-lt"/>
              <a:cs typeface="Times New Roman" pitchFamily="18" charset="0"/>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0286" y="536944"/>
            <a:ext cx="803824" cy="803824"/>
          </a:xfrm>
          <a:prstGeom prst="rect">
            <a:avLst/>
          </a:prstGeom>
        </p:spPr>
      </p:pic>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512" y="5949280"/>
            <a:ext cx="716964" cy="716964"/>
          </a:xfrm>
          <a:prstGeom prst="rect">
            <a:avLst/>
          </a:prstGeom>
        </p:spPr>
      </p:pic>
    </p:spTree>
    <p:extLst>
      <p:ext uri="{BB962C8B-B14F-4D97-AF65-F5344CB8AC3E}">
        <p14:creationId xmlns:p14="http://schemas.microsoft.com/office/powerpoint/2010/main" val="8928384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314971"/>
      </p:ext>
    </p:extLst>
  </p:cSld>
  <p:clrMap bg1="lt1" tx1="dk1" bg2="lt2" tx2="dk2" accent1="accent1" accent2="accent2" accent3="accent3" accent4="accent4" accent5="accent5" accent6="accent6" hlink="hlink" folHlink="folHlink"/>
  <p:sldLayoutIdLst>
    <p:sldLayoutId id="2147483923" r:id="rId1"/>
    <p:sldLayoutId id="2147483924" r:id="rId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FE1"/>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594286" y="0"/>
            <a:ext cx="8049605" cy="1224136"/>
          </a:xfrm>
          <a:prstGeom prst="rect">
            <a:avLst/>
          </a:prstGeom>
        </p:spPr>
        <p:txBody>
          <a:bodyPr>
            <a:normAutofit/>
          </a:bodyPr>
          <a:lstStyle/>
          <a:p>
            <a:pPr algn="ctr">
              <a:lnSpc>
                <a:spcPct val="100000"/>
              </a:lnSpc>
            </a:pPr>
            <a:r>
              <a:rPr lang="en-US" sz="2000" dirty="0">
                <a:solidFill>
                  <a:schemeClr val="tx1">
                    <a:lumMod val="95000"/>
                    <a:lumOff val="5000"/>
                  </a:schemeClr>
                </a:solidFill>
                <a:latin typeface="Algerian" pitchFamily="82" charset="0"/>
                <a:cs typeface="Times New Roman" pitchFamily="18" charset="0"/>
              </a:rPr>
              <a:t>TSSM’s</a:t>
            </a:r>
            <a:br>
              <a:rPr lang="en-US" sz="2000" dirty="0">
                <a:solidFill>
                  <a:schemeClr val="tx1">
                    <a:lumMod val="95000"/>
                    <a:lumOff val="5000"/>
                  </a:schemeClr>
                </a:solidFill>
                <a:latin typeface="Algerian" pitchFamily="82" charset="0"/>
                <a:cs typeface="Times New Roman" pitchFamily="18" charset="0"/>
              </a:rPr>
            </a:br>
            <a:r>
              <a:rPr lang="en-US" sz="2000" b="1" dirty="0" err="1">
                <a:solidFill>
                  <a:schemeClr val="tx1">
                    <a:lumMod val="95000"/>
                    <a:lumOff val="5000"/>
                  </a:schemeClr>
                </a:solidFill>
                <a:latin typeface="Algerian" pitchFamily="82" charset="0"/>
                <a:cs typeface="Times New Roman" pitchFamily="18" charset="0"/>
              </a:rPr>
              <a:t>Bhivarabai</a:t>
            </a:r>
            <a:r>
              <a:rPr lang="en-US" sz="2000" b="1" dirty="0">
                <a:solidFill>
                  <a:schemeClr val="tx1">
                    <a:lumMod val="95000"/>
                    <a:lumOff val="5000"/>
                  </a:schemeClr>
                </a:solidFill>
                <a:latin typeface="Algerian" pitchFamily="82" charset="0"/>
                <a:cs typeface="Times New Roman" pitchFamily="18" charset="0"/>
              </a:rPr>
              <a:t>  </a:t>
            </a:r>
            <a:r>
              <a:rPr lang="en-US" sz="2000" b="1" dirty="0" err="1">
                <a:solidFill>
                  <a:schemeClr val="tx1">
                    <a:lumMod val="95000"/>
                    <a:lumOff val="5000"/>
                  </a:schemeClr>
                </a:solidFill>
                <a:latin typeface="Algerian" pitchFamily="82" charset="0"/>
                <a:cs typeface="Times New Roman" pitchFamily="18" charset="0"/>
              </a:rPr>
              <a:t>Sawant</a:t>
            </a:r>
            <a:r>
              <a:rPr lang="en-US" sz="2000" b="1" dirty="0">
                <a:solidFill>
                  <a:schemeClr val="tx1">
                    <a:lumMod val="95000"/>
                    <a:lumOff val="5000"/>
                  </a:schemeClr>
                </a:solidFill>
                <a:latin typeface="Algerian" pitchFamily="82" charset="0"/>
                <a:cs typeface="Times New Roman" pitchFamily="18" charset="0"/>
              </a:rPr>
              <a:t> College of Engineering &amp;  Research</a:t>
            </a:r>
            <a:br>
              <a:rPr lang="en-US" sz="2000" dirty="0">
                <a:solidFill>
                  <a:schemeClr val="tx1">
                    <a:lumMod val="95000"/>
                    <a:lumOff val="5000"/>
                  </a:schemeClr>
                </a:solidFill>
                <a:latin typeface="Algerian" pitchFamily="82" charset="0"/>
                <a:cs typeface="Times New Roman" pitchFamily="18" charset="0"/>
              </a:rPr>
            </a:br>
            <a:r>
              <a:rPr lang="en-US" sz="2000" dirty="0" err="1">
                <a:solidFill>
                  <a:schemeClr val="tx1">
                    <a:lumMod val="95000"/>
                    <a:lumOff val="5000"/>
                  </a:schemeClr>
                </a:solidFill>
                <a:latin typeface="Algerian" pitchFamily="82" charset="0"/>
                <a:cs typeface="Times New Roman" pitchFamily="18" charset="0"/>
              </a:rPr>
              <a:t>Narhe</a:t>
            </a:r>
            <a:r>
              <a:rPr lang="en-US" sz="2000" dirty="0">
                <a:solidFill>
                  <a:schemeClr val="tx1">
                    <a:lumMod val="95000"/>
                    <a:lumOff val="5000"/>
                  </a:schemeClr>
                </a:solidFill>
                <a:latin typeface="Algerian" pitchFamily="82" charset="0"/>
                <a:cs typeface="Times New Roman" pitchFamily="18" charset="0"/>
              </a:rPr>
              <a:t>, Pune-41</a:t>
            </a:r>
            <a:endParaRPr lang="en-IN" sz="2000" b="1" dirty="0">
              <a:solidFill>
                <a:srgbClr val="FF0000"/>
              </a:solidFill>
              <a:latin typeface="Algerian" pitchFamily="82" charset="0"/>
              <a:cs typeface="Times New Roman" pitchFamily="18" charset="0"/>
            </a:endParaRPr>
          </a:p>
        </p:txBody>
      </p:sp>
      <p:sp>
        <p:nvSpPr>
          <p:cNvPr id="5" name="Title 1"/>
          <p:cNvSpPr txBox="1">
            <a:spLocks/>
          </p:cNvSpPr>
          <p:nvPr/>
        </p:nvSpPr>
        <p:spPr>
          <a:xfrm>
            <a:off x="0" y="1095543"/>
            <a:ext cx="9144000" cy="561895"/>
          </a:xfrm>
          <a:prstGeom prst="rect">
            <a:avLst/>
          </a:prstGeom>
          <a:solidFill>
            <a:schemeClr val="tx2"/>
          </a:solidFill>
        </p:spPr>
        <p:txBody>
          <a:bodyPr vert="horz" lIns="91440" tIns="45720" rIns="91440" bIns="45720" rtlCol="0" anchor="b">
            <a:normAutofit fontScale="900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pPr>
            <a:r>
              <a:rPr lang="en-US" sz="3100" b="1" dirty="0">
                <a:solidFill>
                  <a:schemeClr val="bg1"/>
                </a:solidFill>
                <a:latin typeface="+mn-lt"/>
                <a:cs typeface="Times New Roman" pitchFamily="18" charset="0"/>
              </a:rPr>
              <a:t>Department of  Electronics &amp; Telecommunication Engineering</a:t>
            </a:r>
            <a:endParaRPr lang="en-IN" sz="2700" b="1" dirty="0">
              <a:solidFill>
                <a:schemeClr val="bg1"/>
              </a:solidFill>
              <a:latin typeface="+mn-lt"/>
              <a:cs typeface="Times New Roman" pitchFamily="18" charset="0"/>
            </a:endParaRPr>
          </a:p>
        </p:txBody>
      </p:sp>
      <p:sp>
        <p:nvSpPr>
          <p:cNvPr id="6" name="Title 1"/>
          <p:cNvSpPr txBox="1">
            <a:spLocks/>
          </p:cNvSpPr>
          <p:nvPr/>
        </p:nvSpPr>
        <p:spPr>
          <a:xfrm>
            <a:off x="871491" y="1744220"/>
            <a:ext cx="7772400" cy="6380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pPr>
            <a:r>
              <a:rPr lang="en-IN" sz="3600" b="1" dirty="0">
                <a:solidFill>
                  <a:srgbClr val="3333FF"/>
                </a:solidFill>
                <a:latin typeface="+mn-lt"/>
                <a:cs typeface="Times New Roman" pitchFamily="18" charset="0"/>
              </a:rPr>
              <a:t>A PRESENTATION ON</a:t>
            </a:r>
            <a:endParaRPr lang="en-IN" sz="2700" b="1" dirty="0">
              <a:solidFill>
                <a:srgbClr val="3333FF"/>
              </a:solidFill>
              <a:latin typeface="+mn-lt"/>
              <a:cs typeface="Times New Roman" pitchFamily="18" charset="0"/>
            </a:endParaRPr>
          </a:p>
        </p:txBody>
      </p:sp>
      <p:sp>
        <p:nvSpPr>
          <p:cNvPr id="7" name="Title 1"/>
          <p:cNvSpPr txBox="1">
            <a:spLocks/>
          </p:cNvSpPr>
          <p:nvPr/>
        </p:nvSpPr>
        <p:spPr>
          <a:xfrm>
            <a:off x="619890" y="2475509"/>
            <a:ext cx="7772400" cy="3761803"/>
          </a:xfrm>
          <a:prstGeom prst="rect">
            <a:avLst/>
          </a:prstGeom>
        </p:spPr>
        <p:txBody>
          <a:bodyPr vert="horz" lIns="91440" tIns="45720" rIns="91440" bIns="45720" rtlCol="0" anchor="t" anchorCtr="0">
            <a:normAutofit fontScale="97500" lnSpcReduction="100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pPr>
            <a:r>
              <a:rPr lang="en-IN" sz="2500" b="1" dirty="0" err="1">
                <a:solidFill>
                  <a:srgbClr val="002060"/>
                </a:solidFill>
                <a:latin typeface="+mn-lt"/>
                <a:cs typeface="Times New Roman" pitchFamily="18" charset="0"/>
              </a:rPr>
              <a:t>TinyML</a:t>
            </a:r>
            <a:r>
              <a:rPr lang="en-IN" sz="2500" b="1" dirty="0">
                <a:solidFill>
                  <a:srgbClr val="002060"/>
                </a:solidFill>
                <a:latin typeface="+mn-lt"/>
                <a:cs typeface="Times New Roman" pitchFamily="18" charset="0"/>
              </a:rPr>
              <a:t>-Based Vibration Anomaly Detection System </a:t>
            </a:r>
          </a:p>
          <a:p>
            <a:pPr algn="ctr">
              <a:lnSpc>
                <a:spcPct val="100000"/>
              </a:lnSpc>
            </a:pPr>
            <a:r>
              <a:rPr lang="en-IN" sz="2500" b="1" dirty="0">
                <a:solidFill>
                  <a:srgbClr val="002060"/>
                </a:solidFill>
                <a:latin typeface="+mn-lt"/>
                <a:cs typeface="Times New Roman" pitchFamily="18" charset="0"/>
              </a:rPr>
              <a:t>For Predictive Maintenance </a:t>
            </a:r>
            <a:br>
              <a:rPr lang="en-IN" sz="2500" b="1" dirty="0">
                <a:solidFill>
                  <a:srgbClr val="002060"/>
                </a:solidFill>
                <a:latin typeface="+mn-lt"/>
                <a:cs typeface="Times New Roman" pitchFamily="18" charset="0"/>
              </a:rPr>
            </a:br>
            <a:endParaRPr lang="en-IN" sz="2500" b="1" dirty="0">
              <a:solidFill>
                <a:srgbClr val="002060"/>
              </a:solidFill>
              <a:latin typeface="+mn-lt"/>
              <a:cs typeface="Times New Roman" pitchFamily="18" charset="0"/>
            </a:endParaRPr>
          </a:p>
          <a:p>
            <a:pPr algn="ctr">
              <a:lnSpc>
                <a:spcPct val="100000"/>
              </a:lnSpc>
            </a:pPr>
            <a:r>
              <a:rPr lang="en-IN" sz="3100" b="1" dirty="0">
                <a:solidFill>
                  <a:srgbClr val="FF0000"/>
                </a:solidFill>
                <a:latin typeface="+mn-lt"/>
                <a:cs typeface="Times New Roman" pitchFamily="18" charset="0"/>
              </a:rPr>
              <a:t>Presented By</a:t>
            </a:r>
            <a:br>
              <a:rPr lang="en-IN" sz="1800" b="1" dirty="0">
                <a:solidFill>
                  <a:srgbClr val="FF0000"/>
                </a:solidFill>
                <a:latin typeface="+mn-lt"/>
                <a:cs typeface="Times New Roman" pitchFamily="18" charset="0"/>
              </a:rPr>
            </a:br>
            <a:r>
              <a:rPr lang="fi-FI" sz="2400" dirty="0"/>
              <a:t>Armaan Ali</a:t>
            </a:r>
            <a:br>
              <a:rPr lang="fi-FI" sz="2400" dirty="0"/>
            </a:br>
            <a:r>
              <a:rPr lang="fi-FI" sz="2400" dirty="0"/>
              <a:t>Atharva Nhavakar</a:t>
            </a:r>
            <a:br>
              <a:rPr lang="fi-FI" sz="2400" dirty="0"/>
            </a:br>
            <a:r>
              <a:rPr lang="fi-FI" sz="2400" dirty="0"/>
              <a:t>Parth Ghare</a:t>
            </a:r>
          </a:p>
          <a:p>
            <a:pPr algn="ctr">
              <a:lnSpc>
                <a:spcPct val="100000"/>
              </a:lnSpc>
            </a:pPr>
            <a:br>
              <a:rPr lang="en-IN" sz="2200" dirty="0">
                <a:latin typeface="+mn-lt"/>
                <a:cs typeface="Times New Roman" pitchFamily="18" charset="0"/>
              </a:rPr>
            </a:br>
            <a:r>
              <a:rPr lang="en-US" sz="3100" b="1" dirty="0">
                <a:solidFill>
                  <a:srgbClr val="FF0000"/>
                </a:solidFill>
                <a:latin typeface="+mn-lt"/>
                <a:cs typeface="Times New Roman" pitchFamily="18" charset="0"/>
              </a:rPr>
              <a:t>Guide Name</a:t>
            </a:r>
          </a:p>
          <a:p>
            <a:pPr algn="ctr">
              <a:lnSpc>
                <a:spcPct val="100000"/>
              </a:lnSpc>
            </a:pPr>
            <a:r>
              <a:rPr lang="en-IN" sz="2400" dirty="0"/>
              <a:t>Prof. P .A Patil</a:t>
            </a:r>
            <a:endParaRPr lang="en-IN" sz="2400" b="1" dirty="0">
              <a:solidFill>
                <a:srgbClr val="FF0000"/>
              </a:solidFill>
              <a:latin typeface="+mn-lt"/>
              <a:cs typeface="Times New Roman" pitchFamily="18"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0" y="-101209"/>
            <a:ext cx="1081937" cy="1081937"/>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56595" y="-133900"/>
            <a:ext cx="1114628" cy="1114628"/>
          </a:xfrm>
          <a:prstGeom prst="rect">
            <a:avLst/>
          </a:prstGeom>
        </p:spPr>
      </p:pic>
      <p:sp>
        <p:nvSpPr>
          <p:cNvPr id="10" name="Title 1"/>
          <p:cNvSpPr txBox="1">
            <a:spLocks/>
          </p:cNvSpPr>
          <p:nvPr/>
        </p:nvSpPr>
        <p:spPr>
          <a:xfrm>
            <a:off x="0" y="6301364"/>
            <a:ext cx="9144000" cy="561895"/>
          </a:xfrm>
          <a:prstGeom prst="rect">
            <a:avLst/>
          </a:prstGeom>
          <a:solidFill>
            <a:schemeClr val="tx2"/>
          </a:solidFill>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pPr>
            <a:r>
              <a:rPr lang="en-US" sz="3100" b="1" dirty="0">
                <a:solidFill>
                  <a:schemeClr val="bg1"/>
                </a:solidFill>
                <a:latin typeface="+mn-lt"/>
                <a:cs typeface="Times New Roman" pitchFamily="18" charset="0"/>
              </a:rPr>
              <a:t>Academic Year 2025-26</a:t>
            </a:r>
            <a:endParaRPr lang="en-IN" sz="2700" b="1" dirty="0">
              <a:solidFill>
                <a:schemeClr val="bg1"/>
              </a:solidFill>
              <a:latin typeface="+mn-lt"/>
              <a:cs typeface="Times New Roman" pitchFamily="18" charset="0"/>
            </a:endParaRPr>
          </a:p>
        </p:txBody>
      </p:sp>
    </p:spTree>
    <p:extLst>
      <p:ext uri="{BB962C8B-B14F-4D97-AF65-F5344CB8AC3E}">
        <p14:creationId xmlns:p14="http://schemas.microsoft.com/office/powerpoint/2010/main" val="3080852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131840" y="-99392"/>
            <a:ext cx="2376264" cy="620688"/>
          </a:xfrm>
          <a:prstGeom prst="rect">
            <a:avLst/>
          </a:prstGeom>
          <a:noFill/>
        </p:spPr>
        <p:txBody>
          <a:bodyPr anchor="t" anchorCtr="0">
            <a:normAutofit fontScale="90000"/>
          </a:bodyPr>
          <a:lstStyle/>
          <a:p>
            <a:pPr algn="ctr"/>
            <a:r>
              <a:rPr lang="en-IN" b="1" dirty="0">
                <a:solidFill>
                  <a:schemeClr val="bg1"/>
                </a:solidFill>
                <a:latin typeface="+mn-lt"/>
                <a:cs typeface="Times New Roman" pitchFamily="18" charset="0"/>
              </a:rPr>
              <a:t>Contents</a:t>
            </a:r>
          </a:p>
        </p:txBody>
      </p:sp>
      <p:sp>
        <p:nvSpPr>
          <p:cNvPr id="3" name="Content Placeholder 2"/>
          <p:cNvSpPr>
            <a:spLocks noGrp="1"/>
          </p:cNvSpPr>
          <p:nvPr>
            <p:ph idx="4294967295"/>
          </p:nvPr>
        </p:nvSpPr>
        <p:spPr>
          <a:xfrm>
            <a:off x="1115616" y="692696"/>
            <a:ext cx="6408712" cy="5904656"/>
          </a:xfrm>
          <a:prstGeom prst="rect">
            <a:avLst/>
          </a:prstGeom>
        </p:spPr>
        <p:txBody>
          <a:bodyPr>
            <a:noAutofit/>
          </a:bodyPr>
          <a:lstStyle/>
          <a:p>
            <a:pPr>
              <a:buFont typeface="Arial" panose="020B0604020202020204" pitchFamily="34" charset="0"/>
              <a:buChar char="•"/>
            </a:pPr>
            <a:r>
              <a:rPr lang="en-US" sz="2400" dirty="0"/>
              <a:t>Introduction </a:t>
            </a:r>
          </a:p>
          <a:p>
            <a:pPr>
              <a:buFont typeface="Arial" panose="020B0604020202020204" pitchFamily="34" charset="0"/>
              <a:buChar char="•"/>
            </a:pPr>
            <a:r>
              <a:rPr lang="en-US" sz="2400" dirty="0"/>
              <a:t>Literature Review </a:t>
            </a:r>
          </a:p>
          <a:p>
            <a:pPr>
              <a:buFont typeface="Arial" panose="020B0604020202020204" pitchFamily="34" charset="0"/>
              <a:buChar char="•"/>
            </a:pPr>
            <a:r>
              <a:rPr lang="en-US" sz="2400" dirty="0"/>
              <a:t>Motivation </a:t>
            </a:r>
          </a:p>
          <a:p>
            <a:pPr>
              <a:buFont typeface="Arial" panose="020B0604020202020204" pitchFamily="34" charset="0"/>
              <a:buChar char="•"/>
            </a:pPr>
            <a:r>
              <a:rPr lang="en-US" sz="2400" dirty="0"/>
              <a:t>Problem Statement </a:t>
            </a:r>
          </a:p>
          <a:p>
            <a:pPr>
              <a:buFont typeface="Arial" panose="020B0604020202020204" pitchFamily="34" charset="0"/>
              <a:buChar char="•"/>
            </a:pPr>
            <a:r>
              <a:rPr lang="en-US" sz="2400" dirty="0"/>
              <a:t>Objectives </a:t>
            </a:r>
          </a:p>
          <a:p>
            <a:pPr>
              <a:buFont typeface="Arial" panose="020B0604020202020204" pitchFamily="34" charset="0"/>
              <a:buChar char="•"/>
            </a:pPr>
            <a:r>
              <a:rPr lang="en-US" sz="2400" dirty="0"/>
              <a:t>Methodology </a:t>
            </a:r>
          </a:p>
          <a:p>
            <a:pPr>
              <a:buFont typeface="Arial" panose="020B0604020202020204" pitchFamily="34" charset="0"/>
              <a:buChar char="•"/>
            </a:pPr>
            <a:r>
              <a:rPr lang="en-US" sz="2400" dirty="0"/>
              <a:t>System </a:t>
            </a:r>
            <a:r>
              <a:rPr lang="en-US" sz="2400"/>
              <a:t>Architecture </a:t>
            </a:r>
            <a:endParaRPr lang="en-US" sz="2400" dirty="0"/>
          </a:p>
          <a:p>
            <a:pPr>
              <a:buFont typeface="Arial" panose="020B0604020202020204" pitchFamily="34" charset="0"/>
              <a:buChar char="•"/>
            </a:pPr>
            <a:r>
              <a:rPr lang="en-US" sz="2400" dirty="0"/>
              <a:t>Results  </a:t>
            </a:r>
          </a:p>
          <a:p>
            <a:pPr>
              <a:buFont typeface="Arial" panose="020B0604020202020204" pitchFamily="34" charset="0"/>
              <a:buChar char="•"/>
            </a:pPr>
            <a:r>
              <a:rPr lang="en-US" sz="2400" dirty="0"/>
              <a:t>Conclusion </a:t>
            </a:r>
          </a:p>
          <a:p>
            <a:pPr>
              <a:buFont typeface="Arial" panose="020B0604020202020204" pitchFamily="34" charset="0"/>
              <a:buChar char="•"/>
            </a:pPr>
            <a:r>
              <a:rPr lang="en-US" sz="2400" dirty="0"/>
              <a:t>Future Scope </a:t>
            </a:r>
          </a:p>
          <a:p>
            <a:pPr>
              <a:buFont typeface="Arial" panose="020B0604020202020204" pitchFamily="34" charset="0"/>
              <a:buChar char="•"/>
            </a:pPr>
            <a:r>
              <a:rPr lang="en-US" sz="2400" dirty="0"/>
              <a:t>References </a:t>
            </a:r>
          </a:p>
          <a:p>
            <a:pPr>
              <a:buFont typeface="Arial" panose="020B0604020202020204" pitchFamily="34" charset="0"/>
              <a:buChar char="•"/>
            </a:pPr>
            <a:endParaRPr lang="en-IN" sz="2400" dirty="0">
              <a:solidFill>
                <a:schemeClr val="tx1"/>
              </a:solidFill>
              <a:cs typeface="Times New Roman" pitchFamily="18" charset="0"/>
            </a:endParaRPr>
          </a:p>
        </p:txBody>
      </p:sp>
    </p:spTree>
    <p:extLst>
      <p:ext uri="{BB962C8B-B14F-4D97-AF65-F5344CB8AC3E}">
        <p14:creationId xmlns:p14="http://schemas.microsoft.com/office/powerpoint/2010/main" val="22375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84"/>
            <a:ext cx="2915816"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Introduction</a:t>
            </a:r>
          </a:p>
        </p:txBody>
      </p:sp>
      <p:sp>
        <p:nvSpPr>
          <p:cNvPr id="3" name="Rectangle 1"/>
          <p:cNvSpPr>
            <a:spLocks noChangeArrowheads="1"/>
          </p:cNvSpPr>
          <p:nvPr/>
        </p:nvSpPr>
        <p:spPr bwMode="auto">
          <a:xfrm>
            <a:off x="827584" y="512967"/>
            <a:ext cx="806489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The rapid growth of </a:t>
            </a:r>
            <a:r>
              <a:rPr lang="en-IN" sz="2000" b="1" dirty="0"/>
              <a:t>Industry 4.0</a:t>
            </a:r>
            <a:r>
              <a:rPr lang="en-IN" sz="2000" dirty="0"/>
              <a:t> has increased the demand for intelligent and automated maintenance systems. </a:t>
            </a:r>
            <a:r>
              <a:rPr lang="en-IN" sz="2000" b="1" dirty="0"/>
              <a:t>Predictive maintenance</a:t>
            </a:r>
            <a:r>
              <a:rPr lang="en-IN" sz="2000" dirty="0"/>
              <a:t> helps detect machine faults before they lead to breakdowns, reducing downtime, maintenance costs, and production losses.</a:t>
            </a:r>
          </a:p>
          <a:p>
            <a:r>
              <a:rPr lang="en-IN" sz="2000" dirty="0"/>
              <a:t>Among various monitoring techniques, </a:t>
            </a:r>
            <a:r>
              <a:rPr lang="en-IN" sz="2000" b="1" dirty="0"/>
              <a:t>vibration analysis</a:t>
            </a:r>
            <a:r>
              <a:rPr lang="en-IN" sz="2000" dirty="0"/>
              <a:t> is one of the most effective methods for identifying faults in rotating machinery such as motors and pumps. Mechanical issues like </a:t>
            </a:r>
            <a:r>
              <a:rPr lang="en-IN" sz="2000" b="1" dirty="0"/>
              <a:t>imbalance, misalignment, and bearing wear</a:t>
            </a:r>
            <a:r>
              <a:rPr lang="en-IN" sz="2000" dirty="0"/>
              <a:t> generate unique vibration patterns that can be detected at an early stage.</a:t>
            </a:r>
          </a:p>
          <a:p>
            <a:r>
              <a:rPr lang="en-IN" sz="2000" dirty="0"/>
              <a:t>Conventional monitoring systems often rely on expensive hardware and continuous cloud connectivity for data processing. In this project, we propose a </a:t>
            </a:r>
            <a:r>
              <a:rPr lang="en-IN" sz="2000" b="1" dirty="0" err="1"/>
              <a:t>TinyML</a:t>
            </a:r>
            <a:r>
              <a:rPr lang="en-IN" sz="2000" b="1" dirty="0"/>
              <a:t>-based edge AI solution</a:t>
            </a:r>
            <a:r>
              <a:rPr lang="en-IN" sz="2000" dirty="0"/>
              <a:t> that performs real-time vibration analysis directly on a low-cost microcontroller. This enables </a:t>
            </a:r>
            <a:r>
              <a:rPr lang="en-IN" sz="2000" b="1" dirty="0"/>
              <a:t>fast, low-power, and standalone fault detection</a:t>
            </a:r>
            <a:r>
              <a:rPr lang="en-IN" sz="2000" dirty="0"/>
              <a:t>, making predictive maintenance more affordable and practical for small and medium industries.</a:t>
            </a:r>
          </a:p>
        </p:txBody>
      </p:sp>
    </p:spTree>
    <p:extLst>
      <p:ext uri="{BB962C8B-B14F-4D97-AF65-F5344CB8AC3E}">
        <p14:creationId xmlns:p14="http://schemas.microsoft.com/office/powerpoint/2010/main" val="837241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84"/>
            <a:ext cx="4283968"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Problem Statement</a:t>
            </a:r>
          </a:p>
        </p:txBody>
      </p:sp>
      <p:sp>
        <p:nvSpPr>
          <p:cNvPr id="3" name="Rectangle 1"/>
          <p:cNvSpPr>
            <a:spLocks noChangeArrowheads="1"/>
          </p:cNvSpPr>
          <p:nvPr/>
        </p:nvSpPr>
        <p:spPr bwMode="auto">
          <a:xfrm>
            <a:off x="755576" y="-922403"/>
            <a:ext cx="8208912" cy="7571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latin typeface="Segoe UI" panose="020B0502040204020203" pitchFamily="34" charset="0"/>
              <a:cs typeface="Segoe UI" panose="020B0502040204020203" pitchFamily="34" charset="0"/>
            </a:endParaRPr>
          </a:p>
          <a:p>
            <a:endParaRPr lang="en-IN" dirty="0"/>
          </a:p>
          <a:p>
            <a:endParaRPr lang="en-IN" dirty="0"/>
          </a:p>
          <a:p>
            <a:endParaRPr lang="en-IN" dirty="0"/>
          </a:p>
          <a:p>
            <a:endParaRPr lang="en-IN" dirty="0">
              <a:latin typeface="Segoe UI" panose="020B0502040204020203" pitchFamily="34" charset="0"/>
              <a:cs typeface="Segoe UI" panose="020B0502040204020203" pitchFamily="34" charset="0"/>
            </a:endParaRPr>
          </a:p>
          <a:p>
            <a:r>
              <a:rPr lang="en-IN" dirty="0">
                <a:latin typeface="Segoe UI" panose="020B0502040204020203" pitchFamily="34" charset="0"/>
                <a:cs typeface="Segoe UI" panose="020B0502040204020203" pitchFamily="34" charset="0"/>
              </a:rPr>
              <a:t>Existing vibration monitoring systems are expensive, cloud-dependent, and primarily designed for large-scale industries. Most solutions require specialized data acquisition hardware, continuous internet connectivity, and powerful computing resources, making them unsuitable for small and medium enterprises (SMEs). As a result, many industries continue to rely on reactive maintenance, leading to unexpected equipment failures, increased downtime, and higher maintenance costs.</a:t>
            </a:r>
          </a:p>
          <a:p>
            <a:endParaRPr lang="en-IN" dirty="0">
              <a:latin typeface="Segoe UI" panose="020B0502040204020203" pitchFamily="34" charset="0"/>
              <a:cs typeface="Segoe UI" panose="020B0502040204020203" pitchFamily="34" charset="0"/>
            </a:endParaRPr>
          </a:p>
          <a:p>
            <a:r>
              <a:rPr lang="en-IN" b="1" dirty="0">
                <a:latin typeface="Segoe UI" panose="020B0502040204020203" pitchFamily="34" charset="0"/>
                <a:cs typeface="Segoe UI" panose="020B0502040204020203" pitchFamily="34" charset="0"/>
              </a:rPr>
              <a:t>Key Gaps Addressed by Our Project</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No affordable </a:t>
            </a:r>
            <a:r>
              <a:rPr lang="en-IN" dirty="0" err="1">
                <a:latin typeface="Segoe UI" panose="020B0502040204020203" pitchFamily="34" charset="0"/>
                <a:cs typeface="Segoe UI" panose="020B0502040204020203" pitchFamily="34" charset="0"/>
              </a:rPr>
              <a:t>TinyML</a:t>
            </a:r>
            <a:r>
              <a:rPr lang="en-IN" dirty="0">
                <a:latin typeface="Segoe UI" panose="020B0502040204020203" pitchFamily="34" charset="0"/>
                <a:cs typeface="Segoe UI" panose="020B0502040204020203" pitchFamily="34" charset="0"/>
              </a:rPr>
              <a:t>-based predictive maintenance solution for SMEs.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Heavy dependence on cloud servers for vibration analysis and fault detection.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High-cost industrial monitoring systems requiring specialized DAQ hardware.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Lack of real-time, on-device motor health classification on low-cost microcontrollers.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Limited deployment of lightweight AI models on embedded hardware for standalone operation.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Need for a compact system capable of detecting motor faults (Healthy vs. Faulty) with low latency and low power consumption. </a:t>
            </a:r>
          </a:p>
          <a:p>
            <a:pPr marL="285750" lvl="0" indent="-285750">
              <a:buFont typeface="Arial" panose="020B0604020202020204" pitchFamily="34" charset="0"/>
              <a:buChar char="•"/>
            </a:pPr>
            <a:r>
              <a:rPr lang="en-IN" dirty="0">
                <a:latin typeface="Segoe UI" panose="020B0502040204020203" pitchFamily="34" charset="0"/>
                <a:cs typeface="Segoe UI" panose="020B0502040204020203" pitchFamily="34" charset="0"/>
              </a:rPr>
              <a:t>Absence of an integrated, portable solution suitable for deployment in industries with limited or no internet connectivity.</a:t>
            </a:r>
          </a:p>
        </p:txBody>
      </p:sp>
    </p:spTree>
    <p:extLst>
      <p:ext uri="{BB962C8B-B14F-4D97-AF65-F5344CB8AC3E}">
        <p14:creationId xmlns:p14="http://schemas.microsoft.com/office/powerpoint/2010/main" val="1072218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9392"/>
            <a:ext cx="3851920" cy="611768"/>
          </a:xfrm>
          <a:prstGeom prst="rect">
            <a:avLst/>
          </a:prstGeom>
          <a:noFill/>
        </p:spPr>
        <p:txBody>
          <a:bodyPr anchor="t" anchorCtr="0">
            <a:normAutofit fontScale="90000"/>
          </a:bodyPr>
          <a:lstStyle/>
          <a:p>
            <a:r>
              <a:rPr lang="en-IN" sz="4000" b="1" dirty="0">
                <a:solidFill>
                  <a:schemeClr val="bg1"/>
                </a:solidFill>
                <a:latin typeface="+mn-lt"/>
                <a:cs typeface="Times New Roman" pitchFamily="18" charset="0"/>
              </a:rPr>
              <a:t>Literature Survey</a:t>
            </a:r>
          </a:p>
        </p:txBody>
      </p:sp>
      <p:pic>
        <p:nvPicPr>
          <p:cNvPr id="7" name="Picture 6">
            <a:extLst>
              <a:ext uri="{FF2B5EF4-FFF2-40B4-BE49-F238E27FC236}">
                <a16:creationId xmlns:a16="http://schemas.microsoft.com/office/drawing/2014/main" id="{1C2A0F83-25B6-33E1-2D83-E35F9D7BA2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908" y="512376"/>
            <a:ext cx="6264183" cy="5896302"/>
          </a:xfrm>
          <a:prstGeom prst="rect">
            <a:avLst/>
          </a:prstGeom>
        </p:spPr>
      </p:pic>
    </p:spTree>
    <p:extLst>
      <p:ext uri="{BB962C8B-B14F-4D97-AF65-F5344CB8AC3E}">
        <p14:creationId xmlns:p14="http://schemas.microsoft.com/office/powerpoint/2010/main" val="327908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84"/>
            <a:ext cx="2699792" cy="548680"/>
          </a:xfrm>
          <a:prstGeom prst="rect">
            <a:avLst/>
          </a:prstGeom>
          <a:noFill/>
        </p:spPr>
        <p:txBody>
          <a:bodyPr anchor="t" anchorCtr="0">
            <a:normAutofit fontScale="90000"/>
          </a:bodyPr>
          <a:lstStyle/>
          <a:p>
            <a:r>
              <a:rPr lang="en-IN" sz="4000" b="1" dirty="0">
                <a:solidFill>
                  <a:schemeClr val="bg1"/>
                </a:solidFill>
                <a:latin typeface="+mn-lt"/>
                <a:cs typeface="Times New Roman" pitchFamily="18" charset="0"/>
              </a:rPr>
              <a:t>Motivation</a:t>
            </a:r>
          </a:p>
        </p:txBody>
      </p:sp>
      <p:sp>
        <p:nvSpPr>
          <p:cNvPr id="3" name="Rectangle 1"/>
          <p:cNvSpPr>
            <a:spLocks noChangeArrowheads="1"/>
          </p:cNvSpPr>
          <p:nvPr/>
        </p:nvSpPr>
        <p:spPr bwMode="auto">
          <a:xfrm>
            <a:off x="755576" y="1153486"/>
            <a:ext cx="8388424"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900" dirty="0">
                <a:latin typeface="Segoe UI" panose="020B0502040204020203" pitchFamily="34" charset="0"/>
                <a:cs typeface="Segoe UI" panose="020B0502040204020203" pitchFamily="34" charset="0"/>
              </a:rPr>
              <a:t>The rapid growth of </a:t>
            </a:r>
            <a:r>
              <a:rPr lang="en-IN" sz="1900" b="1" dirty="0">
                <a:latin typeface="Segoe UI" panose="020B0502040204020203" pitchFamily="34" charset="0"/>
                <a:cs typeface="Segoe UI" panose="020B0502040204020203" pitchFamily="34" charset="0"/>
              </a:rPr>
              <a:t>Industry 4.0</a:t>
            </a:r>
            <a:r>
              <a:rPr lang="en-IN" sz="1900" dirty="0">
                <a:latin typeface="Segoe UI" panose="020B0502040204020203" pitchFamily="34" charset="0"/>
                <a:cs typeface="Segoe UI" panose="020B0502040204020203" pitchFamily="34" charset="0"/>
              </a:rPr>
              <a:t> has increased the demand for intelligent and automated maintenance systems. Unexpected failures of rotating machinery such as motors and pumps can lead to production downtime, financial losses,. and reduced equipment lifespan. Early detection of such faults is essential for improving operational efficiency and ensuring reliable industrial processes</a:t>
            </a:r>
          </a:p>
          <a:p>
            <a:r>
              <a:rPr lang="en-IN" sz="1900" dirty="0">
                <a:latin typeface="Segoe UI" panose="020B0502040204020203" pitchFamily="34" charset="0"/>
                <a:cs typeface="Segoe UI" panose="020B0502040204020203" pitchFamily="34" charset="0"/>
              </a:rPr>
              <a:t>With the emergence of </a:t>
            </a:r>
            <a:r>
              <a:rPr lang="en-IN" sz="1900" b="1" dirty="0" err="1">
                <a:latin typeface="Segoe UI" panose="020B0502040204020203" pitchFamily="34" charset="0"/>
                <a:cs typeface="Segoe UI" panose="020B0502040204020203" pitchFamily="34" charset="0"/>
              </a:rPr>
              <a:t>TinyML</a:t>
            </a:r>
            <a:r>
              <a:rPr lang="en-IN" sz="1900" dirty="0">
                <a:latin typeface="Segoe UI" panose="020B0502040204020203" pitchFamily="34" charset="0"/>
                <a:cs typeface="Segoe UI" panose="020B0502040204020203" pitchFamily="34" charset="0"/>
              </a:rPr>
              <a:t>, it is now possible to run machine learning models directly on low-power embedded devices. This inspired us to develop a compact, cost-effective, and standalone predictive maintenance system capable of performing real-time vibration analysis without relying on cloud infrastructure.</a:t>
            </a:r>
          </a:p>
        </p:txBody>
      </p:sp>
    </p:spTree>
    <p:extLst>
      <p:ext uri="{BB962C8B-B14F-4D97-AF65-F5344CB8AC3E}">
        <p14:creationId xmlns:p14="http://schemas.microsoft.com/office/powerpoint/2010/main" val="1187198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384"/>
            <a:ext cx="2555776"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Objectives</a:t>
            </a:r>
          </a:p>
        </p:txBody>
      </p:sp>
      <p:sp>
        <p:nvSpPr>
          <p:cNvPr id="3" name="Content Placeholder 2"/>
          <p:cNvSpPr>
            <a:spLocks noGrp="1"/>
          </p:cNvSpPr>
          <p:nvPr>
            <p:ph idx="4294967295"/>
          </p:nvPr>
        </p:nvSpPr>
        <p:spPr>
          <a:xfrm>
            <a:off x="503548" y="575181"/>
            <a:ext cx="8136904" cy="6046931"/>
          </a:xfrm>
          <a:prstGeom prst="rect">
            <a:avLst/>
          </a:prstGeom>
        </p:spPr>
        <p:txBody>
          <a:bodyPr anchor="t" anchorCtr="0">
            <a:noAutofit/>
          </a:bodyPr>
          <a:lstStyle/>
          <a:p>
            <a:pPr>
              <a:buFont typeface="Arial" panose="020B0604020202020204" pitchFamily="34" charset="0"/>
              <a:buChar char="•"/>
            </a:pPr>
            <a:r>
              <a:rPr lang="en-IN" dirty="0">
                <a:latin typeface="Segoe UI" panose="020B0502040204020203" pitchFamily="34" charset="0"/>
                <a:cs typeface="Segoe UI" panose="020B0502040204020203" pitchFamily="34" charset="0"/>
              </a:rPr>
              <a:t>To collect and </a:t>
            </a:r>
            <a:r>
              <a:rPr lang="en-IN" dirty="0" err="1">
                <a:latin typeface="Segoe UI" panose="020B0502040204020203" pitchFamily="34" charset="0"/>
                <a:cs typeface="Segoe UI" panose="020B0502040204020203" pitchFamily="34" charset="0"/>
              </a:rPr>
              <a:t>analyze</a:t>
            </a:r>
            <a:r>
              <a:rPr lang="en-IN" dirty="0">
                <a:latin typeface="Segoe UI" panose="020B0502040204020203" pitchFamily="34" charset="0"/>
                <a:cs typeface="Segoe UI" panose="020B0502040204020203" pitchFamily="34" charset="0"/>
              </a:rPr>
              <a:t> vibration signatures of a motor under healthy and induced-fault (unbalance/misalignment) operating conditions.</a:t>
            </a:r>
          </a:p>
          <a:p>
            <a:pPr>
              <a:buFont typeface="Arial" panose="020B0604020202020204" pitchFamily="34" charset="0"/>
              <a:buChar char="•"/>
            </a:pPr>
            <a:r>
              <a:rPr lang="en-IN" dirty="0">
                <a:latin typeface="Segoe UI" panose="020B0502040204020203" pitchFamily="34" charset="0"/>
                <a:cs typeface="Segoe UI" panose="020B0502040204020203" pitchFamily="34" charset="0"/>
              </a:rPr>
              <a:t>To extract meaningful time-domain (RMS, kurtosis, crest factor) and frequency-domain (FFT peaks, spectral energy) features from the raw vibration signal.</a:t>
            </a:r>
          </a:p>
          <a:p>
            <a:pPr>
              <a:buFont typeface="Arial" panose="020B0604020202020204" pitchFamily="34" charset="0"/>
              <a:buChar char="•"/>
            </a:pPr>
            <a:r>
              <a:rPr lang="en-IN" dirty="0">
                <a:latin typeface="Segoe UI" panose="020B0502040204020203" pitchFamily="34" charset="0"/>
                <a:cs typeface="Segoe UI" panose="020B0502040204020203" pitchFamily="34" charset="0"/>
              </a:rPr>
              <a:t>To design, train, and compare lightweight machine learning models (baseline classifier vs. compact 1D-CNN) for motor health classification.</a:t>
            </a:r>
          </a:p>
          <a:p>
            <a:pPr>
              <a:buFont typeface="Arial" panose="020B0604020202020204" pitchFamily="34" charset="0"/>
              <a:buChar char="•"/>
            </a:pPr>
            <a:r>
              <a:rPr lang="en-IN" dirty="0">
                <a:latin typeface="Segoe UI" panose="020B0502040204020203" pitchFamily="34" charset="0"/>
                <a:cs typeface="Segoe UI" panose="020B0502040204020203" pitchFamily="34" charset="0"/>
              </a:rPr>
              <a:t>To quantize and deploy the trained model on a microcontroller (Arduino Nano 33 BLE Sense) using TensorFlow Lite for Microcontrollers.</a:t>
            </a:r>
          </a:p>
          <a:p>
            <a:pPr>
              <a:buFont typeface="Arial" panose="020B0604020202020204" pitchFamily="34" charset="0"/>
              <a:buChar char="•"/>
            </a:pPr>
            <a:r>
              <a:rPr lang="en-IN" dirty="0">
                <a:latin typeface="Segoe UI" panose="020B0502040204020203" pitchFamily="34" charset="0"/>
                <a:cs typeface="Segoe UI" panose="020B0502040204020203" pitchFamily="34" charset="0"/>
              </a:rPr>
              <a:t>To validate the system's real-time fault detection performance on a live motor rig and trigger a visual/audible alarm upon anomaly detection.</a:t>
            </a:r>
          </a:p>
          <a:p>
            <a:pPr marL="0" indent="0">
              <a:buNone/>
            </a:pPr>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12624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9392"/>
            <a:ext cx="3131840"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Methodology</a:t>
            </a:r>
          </a:p>
        </p:txBody>
      </p:sp>
      <p:sp>
        <p:nvSpPr>
          <p:cNvPr id="4" name="TextBox 3">
            <a:extLst>
              <a:ext uri="{FF2B5EF4-FFF2-40B4-BE49-F238E27FC236}">
                <a16:creationId xmlns:a16="http://schemas.microsoft.com/office/drawing/2014/main" id="{3B2384F2-268E-1114-7BD5-6F7643AD1312}"/>
              </a:ext>
            </a:extLst>
          </p:cNvPr>
          <p:cNvSpPr txBox="1"/>
          <p:nvPr/>
        </p:nvSpPr>
        <p:spPr>
          <a:xfrm>
            <a:off x="755576" y="525448"/>
            <a:ext cx="7632848" cy="6232475"/>
          </a:xfrm>
          <a:prstGeom prst="rect">
            <a:avLst/>
          </a:prstGeom>
          <a:noFill/>
        </p:spPr>
        <p:txBody>
          <a:bodyPr wrap="square" rtlCol="0">
            <a:spAutoFit/>
          </a:bodyPr>
          <a:lstStyle/>
          <a:p>
            <a:r>
              <a:rPr lang="en-IN" sz="1900" b="1" dirty="0">
                <a:latin typeface="Segoe UI" panose="020B0502040204020203" pitchFamily="34" charset="0"/>
                <a:cs typeface="Segoe UI" panose="020B0502040204020203" pitchFamily="34" charset="0"/>
              </a:rPr>
              <a:t>1. Data Acquisition</a:t>
            </a:r>
          </a:p>
          <a:p>
            <a:r>
              <a:rPr lang="en-IN" sz="1900" dirty="0">
                <a:latin typeface="Segoe UI" panose="020B0502040204020203" pitchFamily="34" charset="0"/>
                <a:cs typeface="Segoe UI" panose="020B0502040204020203" pitchFamily="34" charset="0"/>
              </a:rPr>
              <a:t>Collect vibration data from the motor using the onboard accelerometer under healthy and faulty conditions.</a:t>
            </a:r>
          </a:p>
          <a:p>
            <a:r>
              <a:rPr lang="en-IN" sz="1900" b="1" dirty="0">
                <a:latin typeface="Segoe UI" panose="020B0502040204020203" pitchFamily="34" charset="0"/>
                <a:cs typeface="Segoe UI" panose="020B0502040204020203" pitchFamily="34" charset="0"/>
              </a:rPr>
              <a:t>2. Preprocessing</a:t>
            </a:r>
          </a:p>
          <a:p>
            <a:r>
              <a:rPr lang="en-IN" sz="1900" dirty="0">
                <a:latin typeface="Segoe UI" panose="020B0502040204020203" pitchFamily="34" charset="0"/>
                <a:cs typeface="Segoe UI" panose="020B0502040204020203" pitchFamily="34" charset="0"/>
              </a:rPr>
              <a:t>Extract important time-domain (RMS, Kurtosis, Crest Factor) and frequency-domain (FFT Peak, Spectral Energy) features.</a:t>
            </a:r>
          </a:p>
          <a:p>
            <a:r>
              <a:rPr lang="en-IN" sz="1900" b="1" dirty="0">
                <a:latin typeface="Segoe UI" panose="020B0502040204020203" pitchFamily="34" charset="0"/>
                <a:cs typeface="Segoe UI" panose="020B0502040204020203" pitchFamily="34" charset="0"/>
              </a:rPr>
              <a:t>3. Model Training</a:t>
            </a:r>
          </a:p>
          <a:p>
            <a:r>
              <a:rPr lang="en-IN" sz="1900" dirty="0">
                <a:latin typeface="Segoe UI" panose="020B0502040204020203" pitchFamily="34" charset="0"/>
                <a:cs typeface="Segoe UI" panose="020B0502040204020203" pitchFamily="34" charset="0"/>
              </a:rPr>
              <a:t>Train and compare lightweight machine learning models (Random Forest and 1D-CNN) for motor fault classification.</a:t>
            </a:r>
          </a:p>
          <a:p>
            <a:r>
              <a:rPr lang="en-IN" sz="1900" b="1" dirty="0">
                <a:latin typeface="Segoe UI" panose="020B0502040204020203" pitchFamily="34" charset="0"/>
                <a:cs typeface="Segoe UI" panose="020B0502040204020203" pitchFamily="34" charset="0"/>
              </a:rPr>
              <a:t>4. Model Optimization</a:t>
            </a:r>
          </a:p>
          <a:p>
            <a:r>
              <a:rPr lang="en-IN" sz="1900" dirty="0">
                <a:latin typeface="Segoe UI" panose="020B0502040204020203" pitchFamily="34" charset="0"/>
                <a:cs typeface="Segoe UI" panose="020B0502040204020203" pitchFamily="34" charset="0"/>
              </a:rPr>
              <a:t>Optimize the selected model using INT8 quantization and convert it to TensorFlow Lite format.</a:t>
            </a:r>
          </a:p>
          <a:p>
            <a:r>
              <a:rPr lang="en-IN" sz="1900" b="1" dirty="0">
                <a:latin typeface="Segoe UI" panose="020B0502040204020203" pitchFamily="34" charset="0"/>
                <a:cs typeface="Segoe UI" panose="020B0502040204020203" pitchFamily="34" charset="0"/>
              </a:rPr>
              <a:t>5. Deployment</a:t>
            </a:r>
          </a:p>
          <a:p>
            <a:r>
              <a:rPr lang="en-IN" sz="1900" dirty="0">
                <a:latin typeface="Segoe UI" panose="020B0502040204020203" pitchFamily="34" charset="0"/>
                <a:cs typeface="Segoe UI" panose="020B0502040204020203" pitchFamily="34" charset="0"/>
              </a:rPr>
              <a:t>Deploy the optimized model on the Arduino Nano 33 BLE Sense for real-time fault detection and alerts.</a:t>
            </a:r>
          </a:p>
          <a:p>
            <a:r>
              <a:rPr lang="en-IN" sz="1900" b="1" dirty="0">
                <a:latin typeface="Segoe UI" panose="020B0502040204020203" pitchFamily="34" charset="0"/>
                <a:cs typeface="Segoe UI" panose="020B0502040204020203" pitchFamily="34" charset="0"/>
              </a:rPr>
              <a:t>6. Validation</a:t>
            </a:r>
          </a:p>
          <a:p>
            <a:r>
              <a:rPr lang="en-IN" sz="1900" dirty="0">
                <a:latin typeface="Segoe UI" panose="020B0502040204020203" pitchFamily="34" charset="0"/>
                <a:cs typeface="Segoe UI" panose="020B0502040204020203" pitchFamily="34" charset="0"/>
              </a:rPr>
              <a:t>Evaluate the system on a live motor setup by measuring detection accuracy and inference speed.</a:t>
            </a:r>
          </a:p>
          <a:p>
            <a:br>
              <a:rPr lang="en-IN" sz="1900" dirty="0">
                <a:latin typeface="Segoe UI" panose="020B0502040204020203" pitchFamily="34" charset="0"/>
                <a:cs typeface="Segoe UI" panose="020B0502040204020203" pitchFamily="34" charset="0"/>
              </a:rPr>
            </a:br>
            <a:endParaRPr lang="en-IN" sz="1900" dirty="0">
              <a:latin typeface="Segoe UI" panose="020B0502040204020203" pitchFamily="34" charset="0"/>
              <a:cs typeface="Segoe UI" panose="020B0502040204020203" pitchFamily="34" charset="0"/>
            </a:endParaRPr>
          </a:p>
          <a:p>
            <a:endParaRPr lang="en-IN" sz="19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03371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AD64-6B3D-E3E4-0CD8-E69FE8682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7FE61-D7D8-BF8C-1D5E-B0CA037347AF}"/>
              </a:ext>
            </a:extLst>
          </p:cNvPr>
          <p:cNvSpPr>
            <a:spLocks noGrp="1"/>
          </p:cNvSpPr>
          <p:nvPr>
            <p:ph type="title" idx="4294967295"/>
          </p:nvPr>
        </p:nvSpPr>
        <p:spPr>
          <a:xfrm>
            <a:off x="0" y="-99392"/>
            <a:ext cx="3131840"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Methodology</a:t>
            </a:r>
          </a:p>
        </p:txBody>
      </p:sp>
      <p:sp>
        <p:nvSpPr>
          <p:cNvPr id="4" name="TextBox 3">
            <a:extLst>
              <a:ext uri="{FF2B5EF4-FFF2-40B4-BE49-F238E27FC236}">
                <a16:creationId xmlns:a16="http://schemas.microsoft.com/office/drawing/2014/main" id="{2CE4A6DB-4537-75B6-2BEE-2AFAD32F8DD0}"/>
              </a:ext>
            </a:extLst>
          </p:cNvPr>
          <p:cNvSpPr txBox="1"/>
          <p:nvPr/>
        </p:nvSpPr>
        <p:spPr>
          <a:xfrm>
            <a:off x="755576" y="525448"/>
            <a:ext cx="7632848" cy="646331"/>
          </a:xfrm>
          <a:prstGeom prst="rect">
            <a:avLst/>
          </a:prstGeom>
          <a:noFill/>
        </p:spPr>
        <p:txBody>
          <a:bodyPr wrap="square" rtlCol="0">
            <a:spAutoFit/>
          </a:bodyPr>
          <a:lstStyle/>
          <a:p>
            <a:r>
              <a:rPr lang="en-IN" dirty="0"/>
              <a:t>⚙️ </a:t>
            </a:r>
            <a:r>
              <a:rPr lang="en-IN" dirty="0">
                <a:latin typeface="Segoe UI" panose="020B0502040204020203" pitchFamily="34" charset="0"/>
                <a:cs typeface="Segoe UI" panose="020B0502040204020203" pitchFamily="34" charset="0"/>
              </a:rPr>
              <a:t>Hardware Requirements</a:t>
            </a:r>
          </a:p>
          <a:p>
            <a:endParaRPr lang="en-IN" dirty="0"/>
          </a:p>
        </p:txBody>
      </p:sp>
      <p:graphicFrame>
        <p:nvGraphicFramePr>
          <p:cNvPr id="3" name="Table 2">
            <a:extLst>
              <a:ext uri="{FF2B5EF4-FFF2-40B4-BE49-F238E27FC236}">
                <a16:creationId xmlns:a16="http://schemas.microsoft.com/office/drawing/2014/main" id="{689AEEC5-B8CD-1DA7-C729-8C4F69566631}"/>
              </a:ext>
            </a:extLst>
          </p:cNvPr>
          <p:cNvGraphicFramePr>
            <a:graphicFrameLocks noGrp="1"/>
          </p:cNvGraphicFramePr>
          <p:nvPr>
            <p:extLst>
              <p:ext uri="{D42A27DB-BD31-4B8C-83A1-F6EECF244321}">
                <p14:modId xmlns:p14="http://schemas.microsoft.com/office/powerpoint/2010/main" val="38363838"/>
              </p:ext>
            </p:extLst>
          </p:nvPr>
        </p:nvGraphicFramePr>
        <p:xfrm>
          <a:off x="683568" y="908720"/>
          <a:ext cx="7560840" cy="1872210"/>
        </p:xfrm>
        <a:graphic>
          <a:graphicData uri="http://schemas.openxmlformats.org/drawingml/2006/table">
            <a:tbl>
              <a:tblPr firstRow="1" bandRow="1">
                <a:tableStyleId>{5C22544A-7EE6-4342-B048-85BDC9FD1C3A}</a:tableStyleId>
              </a:tblPr>
              <a:tblGrid>
                <a:gridCol w="3780420">
                  <a:extLst>
                    <a:ext uri="{9D8B030D-6E8A-4147-A177-3AD203B41FA5}">
                      <a16:colId xmlns:a16="http://schemas.microsoft.com/office/drawing/2014/main" val="2121242151"/>
                    </a:ext>
                  </a:extLst>
                </a:gridCol>
                <a:gridCol w="3780420">
                  <a:extLst>
                    <a:ext uri="{9D8B030D-6E8A-4147-A177-3AD203B41FA5}">
                      <a16:colId xmlns:a16="http://schemas.microsoft.com/office/drawing/2014/main" val="1247070485"/>
                    </a:ext>
                  </a:extLst>
                </a:gridCol>
              </a:tblGrid>
              <a:tr h="374442">
                <a:tc>
                  <a:txBody>
                    <a:bodyPr/>
                    <a:lstStyle/>
                    <a:p>
                      <a:r>
                        <a:rPr lang="en-IN" dirty="0"/>
                        <a:t>🧩 </a:t>
                      </a:r>
                      <a:r>
                        <a:rPr lang="en-IN" b="1" dirty="0"/>
                        <a:t>Component</a:t>
                      </a:r>
                      <a:endParaRPr lang="en-IN" dirty="0"/>
                    </a:p>
                  </a:txBody>
                  <a:tcPr/>
                </a:tc>
                <a:tc>
                  <a:txBody>
                    <a:bodyPr/>
                    <a:lstStyle/>
                    <a:p>
                      <a:r>
                        <a:rPr lang="en-IN" dirty="0"/>
                        <a:t>🎯 </a:t>
                      </a:r>
                      <a:r>
                        <a:rPr lang="en-IN" b="1" dirty="0"/>
                        <a:t>Purpose</a:t>
                      </a:r>
                      <a:endParaRPr lang="en-IN" dirty="0"/>
                    </a:p>
                  </a:txBody>
                  <a:tcPr/>
                </a:tc>
                <a:extLst>
                  <a:ext uri="{0D108BD9-81ED-4DB2-BD59-A6C34878D82A}">
                    <a16:rowId xmlns:a16="http://schemas.microsoft.com/office/drawing/2014/main" val="4092941187"/>
                  </a:ext>
                </a:extLst>
              </a:tr>
              <a:tr h="374442">
                <a:tc>
                  <a:txBody>
                    <a:bodyPr/>
                    <a:lstStyle/>
                    <a:p>
                      <a:r>
                        <a:rPr lang="en-IN" dirty="0"/>
                        <a:t>Arduino Nano 33 BLE Sense</a:t>
                      </a:r>
                    </a:p>
                  </a:txBody>
                  <a:tcPr/>
                </a:tc>
                <a:tc>
                  <a:txBody>
                    <a:bodyPr/>
                    <a:lstStyle/>
                    <a:p>
                      <a:r>
                        <a:rPr lang="en-IN" dirty="0"/>
                        <a:t>Vibration sensing &amp; </a:t>
                      </a:r>
                      <a:r>
                        <a:rPr lang="en-IN" dirty="0" err="1"/>
                        <a:t>TinyML</a:t>
                      </a:r>
                      <a:r>
                        <a:rPr lang="en-IN" dirty="0"/>
                        <a:t> inference</a:t>
                      </a:r>
                    </a:p>
                  </a:txBody>
                  <a:tcPr/>
                </a:tc>
                <a:extLst>
                  <a:ext uri="{0D108BD9-81ED-4DB2-BD59-A6C34878D82A}">
                    <a16:rowId xmlns:a16="http://schemas.microsoft.com/office/drawing/2014/main" val="143988247"/>
                  </a:ext>
                </a:extLst>
              </a:tr>
              <a:tr h="374442">
                <a:tc>
                  <a:txBody>
                    <a:bodyPr/>
                    <a:lstStyle/>
                    <a:p>
                      <a:r>
                        <a:rPr lang="en-IN" dirty="0"/>
                        <a:t>Test Motor / Pump</a:t>
                      </a:r>
                    </a:p>
                  </a:txBody>
                  <a:tcPr/>
                </a:tc>
                <a:tc>
                  <a:txBody>
                    <a:bodyPr/>
                    <a:lstStyle/>
                    <a:p>
                      <a:r>
                        <a:rPr lang="en-IN" dirty="0"/>
                        <a:t>Generate vibration data</a:t>
                      </a:r>
                    </a:p>
                  </a:txBody>
                  <a:tcPr/>
                </a:tc>
                <a:extLst>
                  <a:ext uri="{0D108BD9-81ED-4DB2-BD59-A6C34878D82A}">
                    <a16:rowId xmlns:a16="http://schemas.microsoft.com/office/drawing/2014/main" val="2931167098"/>
                  </a:ext>
                </a:extLst>
              </a:tr>
              <a:tr h="374442">
                <a:tc>
                  <a:txBody>
                    <a:bodyPr/>
                    <a:lstStyle/>
                    <a:p>
                      <a:r>
                        <a:rPr lang="en-IN" dirty="0"/>
                        <a:t>LED / Buzzer</a:t>
                      </a:r>
                    </a:p>
                  </a:txBody>
                  <a:tcPr/>
                </a:tc>
                <a:tc>
                  <a:txBody>
                    <a:bodyPr/>
                    <a:lstStyle/>
                    <a:p>
                      <a:r>
                        <a:rPr lang="en-IN" dirty="0"/>
                        <a:t>Fault indication</a:t>
                      </a:r>
                    </a:p>
                  </a:txBody>
                  <a:tcPr/>
                </a:tc>
                <a:extLst>
                  <a:ext uri="{0D108BD9-81ED-4DB2-BD59-A6C34878D82A}">
                    <a16:rowId xmlns:a16="http://schemas.microsoft.com/office/drawing/2014/main" val="817514736"/>
                  </a:ext>
                </a:extLst>
              </a:tr>
              <a:tr h="374442">
                <a:tc>
                  <a:txBody>
                    <a:bodyPr/>
                    <a:lstStyle/>
                    <a:p>
                      <a:r>
                        <a:rPr lang="en-IN" dirty="0"/>
                        <a:t>SD Card Module</a:t>
                      </a:r>
                    </a:p>
                  </a:txBody>
                  <a:tcPr/>
                </a:tc>
                <a:tc>
                  <a:txBody>
                    <a:bodyPr/>
                    <a:lstStyle/>
                    <a:p>
                      <a:r>
                        <a:rPr lang="en-IN" dirty="0"/>
                        <a:t>Data logging</a:t>
                      </a:r>
                    </a:p>
                  </a:txBody>
                  <a:tcPr/>
                </a:tc>
                <a:extLst>
                  <a:ext uri="{0D108BD9-81ED-4DB2-BD59-A6C34878D82A}">
                    <a16:rowId xmlns:a16="http://schemas.microsoft.com/office/drawing/2014/main" val="4182866580"/>
                  </a:ext>
                </a:extLst>
              </a:tr>
            </a:tbl>
          </a:graphicData>
        </a:graphic>
      </p:graphicFrame>
      <p:sp>
        <p:nvSpPr>
          <p:cNvPr id="6" name="TextBox 5">
            <a:extLst>
              <a:ext uri="{FF2B5EF4-FFF2-40B4-BE49-F238E27FC236}">
                <a16:creationId xmlns:a16="http://schemas.microsoft.com/office/drawing/2014/main" id="{1F3453DB-8614-9A25-294A-D59C3C434F89}"/>
              </a:ext>
            </a:extLst>
          </p:cNvPr>
          <p:cNvSpPr txBox="1"/>
          <p:nvPr/>
        </p:nvSpPr>
        <p:spPr>
          <a:xfrm>
            <a:off x="683568" y="3059668"/>
            <a:ext cx="7416824" cy="369332"/>
          </a:xfrm>
          <a:prstGeom prst="rect">
            <a:avLst/>
          </a:prstGeom>
          <a:noFill/>
        </p:spPr>
        <p:txBody>
          <a:bodyPr wrap="square" rtlCol="0">
            <a:spAutoFit/>
          </a:bodyPr>
          <a:lstStyle/>
          <a:p>
            <a:r>
              <a:rPr lang="en-IN" dirty="0"/>
              <a:t>💻 </a:t>
            </a:r>
            <a:r>
              <a:rPr lang="en-IN" dirty="0">
                <a:latin typeface="Segoe UI" panose="020B0502040204020203" pitchFamily="34" charset="0"/>
                <a:cs typeface="Segoe UI" panose="020B0502040204020203" pitchFamily="34" charset="0"/>
              </a:rPr>
              <a:t>Software Requirements</a:t>
            </a:r>
          </a:p>
        </p:txBody>
      </p:sp>
      <p:graphicFrame>
        <p:nvGraphicFramePr>
          <p:cNvPr id="8" name="Table 7">
            <a:extLst>
              <a:ext uri="{FF2B5EF4-FFF2-40B4-BE49-F238E27FC236}">
                <a16:creationId xmlns:a16="http://schemas.microsoft.com/office/drawing/2014/main" id="{3E279D49-B26B-7CD2-1E39-FB07C3C91D93}"/>
              </a:ext>
            </a:extLst>
          </p:cNvPr>
          <p:cNvGraphicFramePr>
            <a:graphicFrameLocks noGrp="1"/>
          </p:cNvGraphicFramePr>
          <p:nvPr>
            <p:extLst>
              <p:ext uri="{D42A27DB-BD31-4B8C-83A1-F6EECF244321}">
                <p14:modId xmlns:p14="http://schemas.microsoft.com/office/powerpoint/2010/main" val="2072659454"/>
              </p:ext>
            </p:extLst>
          </p:nvPr>
        </p:nvGraphicFramePr>
        <p:xfrm>
          <a:off x="683568" y="3438291"/>
          <a:ext cx="7560840" cy="2150950"/>
        </p:xfrm>
        <a:graphic>
          <a:graphicData uri="http://schemas.openxmlformats.org/drawingml/2006/table">
            <a:tbl>
              <a:tblPr firstRow="1" bandRow="1">
                <a:tableStyleId>{5C22544A-7EE6-4342-B048-85BDC9FD1C3A}</a:tableStyleId>
              </a:tblPr>
              <a:tblGrid>
                <a:gridCol w="3780420">
                  <a:extLst>
                    <a:ext uri="{9D8B030D-6E8A-4147-A177-3AD203B41FA5}">
                      <a16:colId xmlns:a16="http://schemas.microsoft.com/office/drawing/2014/main" val="1147388390"/>
                    </a:ext>
                  </a:extLst>
                </a:gridCol>
                <a:gridCol w="3780420">
                  <a:extLst>
                    <a:ext uri="{9D8B030D-6E8A-4147-A177-3AD203B41FA5}">
                      <a16:colId xmlns:a16="http://schemas.microsoft.com/office/drawing/2014/main" val="3559932450"/>
                    </a:ext>
                  </a:extLst>
                </a:gridCol>
              </a:tblGrid>
              <a:tr h="430190">
                <a:tc>
                  <a:txBody>
                    <a:bodyPr/>
                    <a:lstStyle/>
                    <a:p>
                      <a:r>
                        <a:rPr lang="en-IN" dirty="0"/>
                        <a:t>🛠️ </a:t>
                      </a:r>
                      <a:r>
                        <a:rPr lang="en-IN" b="1" dirty="0"/>
                        <a:t>Software</a:t>
                      </a:r>
                      <a:endParaRPr lang="en-IN" dirty="0"/>
                    </a:p>
                  </a:txBody>
                  <a:tcPr/>
                </a:tc>
                <a:tc>
                  <a:txBody>
                    <a:bodyPr/>
                    <a:lstStyle/>
                    <a:p>
                      <a:r>
                        <a:rPr lang="en-IN" dirty="0"/>
                        <a:t>🎯 </a:t>
                      </a:r>
                      <a:r>
                        <a:rPr lang="en-IN" b="1" dirty="0"/>
                        <a:t>Purpose</a:t>
                      </a:r>
                      <a:endParaRPr lang="en-IN" dirty="0"/>
                    </a:p>
                  </a:txBody>
                  <a:tcPr/>
                </a:tc>
                <a:extLst>
                  <a:ext uri="{0D108BD9-81ED-4DB2-BD59-A6C34878D82A}">
                    <a16:rowId xmlns:a16="http://schemas.microsoft.com/office/drawing/2014/main" val="1304548918"/>
                  </a:ext>
                </a:extLst>
              </a:tr>
              <a:tr h="430190">
                <a:tc>
                  <a:txBody>
                    <a:bodyPr/>
                    <a:lstStyle/>
                    <a:p>
                      <a:r>
                        <a:rPr lang="en-IN" dirty="0"/>
                        <a:t>Python 3.x</a:t>
                      </a:r>
                    </a:p>
                  </a:txBody>
                  <a:tcPr/>
                </a:tc>
                <a:tc>
                  <a:txBody>
                    <a:bodyPr/>
                    <a:lstStyle/>
                    <a:p>
                      <a:r>
                        <a:rPr lang="en-IN" dirty="0"/>
                        <a:t>Data preprocessing &amp; model training</a:t>
                      </a:r>
                    </a:p>
                  </a:txBody>
                  <a:tcPr/>
                </a:tc>
                <a:extLst>
                  <a:ext uri="{0D108BD9-81ED-4DB2-BD59-A6C34878D82A}">
                    <a16:rowId xmlns:a16="http://schemas.microsoft.com/office/drawing/2014/main" val="769140457"/>
                  </a:ext>
                </a:extLst>
              </a:tr>
              <a:tr h="430190">
                <a:tc>
                  <a:txBody>
                    <a:bodyPr/>
                    <a:lstStyle/>
                    <a:p>
                      <a:r>
                        <a:rPr lang="en-IN" dirty="0"/>
                        <a:t>TensorFlow / </a:t>
                      </a:r>
                      <a:r>
                        <a:rPr lang="en-IN" dirty="0" err="1"/>
                        <a:t>Keras</a:t>
                      </a:r>
                      <a:endParaRPr lang="en-IN" dirty="0"/>
                    </a:p>
                  </a:txBody>
                  <a:tcPr/>
                </a:tc>
                <a:tc>
                  <a:txBody>
                    <a:bodyPr/>
                    <a:lstStyle/>
                    <a:p>
                      <a:r>
                        <a:rPr lang="en-IN" dirty="0"/>
                        <a:t>Build and train ML model</a:t>
                      </a:r>
                    </a:p>
                  </a:txBody>
                  <a:tcPr/>
                </a:tc>
                <a:extLst>
                  <a:ext uri="{0D108BD9-81ED-4DB2-BD59-A6C34878D82A}">
                    <a16:rowId xmlns:a16="http://schemas.microsoft.com/office/drawing/2014/main" val="2228490513"/>
                  </a:ext>
                </a:extLst>
              </a:tr>
              <a:tr h="430190">
                <a:tc>
                  <a:txBody>
                    <a:bodyPr/>
                    <a:lstStyle/>
                    <a:p>
                      <a:r>
                        <a:rPr lang="en-IN" dirty="0"/>
                        <a:t>TensorFlow Lite Micro</a:t>
                      </a:r>
                    </a:p>
                  </a:txBody>
                  <a:tcPr/>
                </a:tc>
                <a:tc>
                  <a:txBody>
                    <a:bodyPr/>
                    <a:lstStyle/>
                    <a:p>
                      <a:r>
                        <a:rPr lang="en-IN" dirty="0"/>
                        <a:t>Deploy model on Arduino</a:t>
                      </a:r>
                    </a:p>
                  </a:txBody>
                  <a:tcPr/>
                </a:tc>
                <a:extLst>
                  <a:ext uri="{0D108BD9-81ED-4DB2-BD59-A6C34878D82A}">
                    <a16:rowId xmlns:a16="http://schemas.microsoft.com/office/drawing/2014/main" val="3055668673"/>
                  </a:ext>
                </a:extLst>
              </a:tr>
              <a:tr h="430190">
                <a:tc>
                  <a:txBody>
                    <a:bodyPr/>
                    <a:lstStyle/>
                    <a:p>
                      <a:r>
                        <a:rPr lang="en-IN" dirty="0"/>
                        <a:t>Arduino IDE</a:t>
                      </a:r>
                    </a:p>
                  </a:txBody>
                  <a:tcPr/>
                </a:tc>
                <a:tc>
                  <a:txBody>
                    <a:bodyPr/>
                    <a:lstStyle/>
                    <a:p>
                      <a:r>
                        <a:rPr lang="en-IN" dirty="0"/>
                        <a:t>Upload firmware</a:t>
                      </a:r>
                    </a:p>
                  </a:txBody>
                  <a:tcPr/>
                </a:tc>
                <a:extLst>
                  <a:ext uri="{0D108BD9-81ED-4DB2-BD59-A6C34878D82A}">
                    <a16:rowId xmlns:a16="http://schemas.microsoft.com/office/drawing/2014/main" val="427189867"/>
                  </a:ext>
                </a:extLst>
              </a:tr>
            </a:tbl>
          </a:graphicData>
        </a:graphic>
      </p:graphicFrame>
    </p:spTree>
    <p:extLst>
      <p:ext uri="{BB962C8B-B14F-4D97-AF65-F5344CB8AC3E}">
        <p14:creationId xmlns:p14="http://schemas.microsoft.com/office/powerpoint/2010/main" val="2857224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9392"/>
            <a:ext cx="5940152"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System Design/Architecture</a:t>
            </a:r>
          </a:p>
        </p:txBody>
      </p:sp>
      <p:pic>
        <p:nvPicPr>
          <p:cNvPr id="4" name="Picture 3">
            <a:extLst>
              <a:ext uri="{FF2B5EF4-FFF2-40B4-BE49-F238E27FC236}">
                <a16:creationId xmlns:a16="http://schemas.microsoft.com/office/drawing/2014/main" id="{47EAFDCB-5B2B-1D26-009D-DFA0D2EE3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764704"/>
            <a:ext cx="8532440" cy="5665492"/>
          </a:xfrm>
          <a:prstGeom prst="rect">
            <a:avLst/>
          </a:prstGeom>
        </p:spPr>
      </p:pic>
    </p:spTree>
    <p:extLst>
      <p:ext uri="{BB962C8B-B14F-4D97-AF65-F5344CB8AC3E}">
        <p14:creationId xmlns:p14="http://schemas.microsoft.com/office/powerpoint/2010/main" val="3320041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8928-9F48-D3E3-343E-1E98F7736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DEF70-0225-99BC-98A5-4AE0772F5485}"/>
              </a:ext>
            </a:extLst>
          </p:cNvPr>
          <p:cNvSpPr>
            <a:spLocks noGrp="1"/>
          </p:cNvSpPr>
          <p:nvPr>
            <p:ph type="title" idx="4294967295"/>
          </p:nvPr>
        </p:nvSpPr>
        <p:spPr>
          <a:xfrm>
            <a:off x="0" y="-99392"/>
            <a:ext cx="5940152"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FLOWCHART/ALGORITHM</a:t>
            </a:r>
          </a:p>
        </p:txBody>
      </p:sp>
      <p:pic>
        <p:nvPicPr>
          <p:cNvPr id="4" name="Picture 3">
            <a:extLst>
              <a:ext uri="{FF2B5EF4-FFF2-40B4-BE49-F238E27FC236}">
                <a16:creationId xmlns:a16="http://schemas.microsoft.com/office/drawing/2014/main" id="{58B9723A-0A75-C94F-F12D-5680B6370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521296"/>
            <a:ext cx="4350229" cy="6076056"/>
          </a:xfrm>
          <a:prstGeom prst="rect">
            <a:avLst/>
          </a:prstGeom>
        </p:spPr>
      </p:pic>
    </p:spTree>
    <p:extLst>
      <p:ext uri="{BB962C8B-B14F-4D97-AF65-F5344CB8AC3E}">
        <p14:creationId xmlns:p14="http://schemas.microsoft.com/office/powerpoint/2010/main" val="3962721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F6F30-1E2F-8D9C-C0E4-3ED0E4F94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D73FE-B5F2-3ECC-EEE9-FACEAFA51799}"/>
              </a:ext>
            </a:extLst>
          </p:cNvPr>
          <p:cNvSpPr>
            <a:spLocks noGrp="1"/>
          </p:cNvSpPr>
          <p:nvPr>
            <p:ph type="title" idx="4294967295"/>
          </p:nvPr>
        </p:nvSpPr>
        <p:spPr>
          <a:xfrm>
            <a:off x="0" y="-99392"/>
            <a:ext cx="6300192"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Conclusion and Future Scope</a:t>
            </a:r>
          </a:p>
        </p:txBody>
      </p:sp>
      <p:sp>
        <p:nvSpPr>
          <p:cNvPr id="4" name="TextBox 3">
            <a:extLst>
              <a:ext uri="{FF2B5EF4-FFF2-40B4-BE49-F238E27FC236}">
                <a16:creationId xmlns:a16="http://schemas.microsoft.com/office/drawing/2014/main" id="{B8615289-4E89-7693-8D68-8128BB26C108}"/>
              </a:ext>
            </a:extLst>
          </p:cNvPr>
          <p:cNvSpPr txBox="1"/>
          <p:nvPr/>
        </p:nvSpPr>
        <p:spPr>
          <a:xfrm>
            <a:off x="683568" y="764704"/>
            <a:ext cx="8352928" cy="5016758"/>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Future Scope:</a:t>
            </a:r>
            <a:r>
              <a:rPr lang="en-US" dirty="0">
                <a:latin typeface="Segoe UI" panose="020B0502040204020203" pitchFamily="34" charset="0"/>
                <a:cs typeface="Segoe UI" panose="020B0502040204020203" pitchFamily="34" charset="0"/>
              </a:rPr>
              <a:t> </a:t>
            </a:r>
          </a:p>
          <a:p>
            <a:endParaRPr lang="en-US" dirty="0">
              <a:latin typeface="Segoe UI" panose="020B0502040204020203" pitchFamily="34" charset="0"/>
              <a:cs typeface="Segoe UI" panose="020B0502040204020203" pitchFamily="34" charset="0"/>
            </a:endParaRPr>
          </a:p>
          <a:p>
            <a:pPr marL="285750" lvl="0" indent="-285750">
              <a:buFont typeface="Arial" panose="020B0604020202020204" pitchFamily="34" charset="0"/>
              <a:buChar char="•"/>
            </a:pPr>
            <a:r>
              <a:rPr lang="en-IN" sz="1900" dirty="0">
                <a:latin typeface="Segoe UI" panose="020B0502040204020203" pitchFamily="34" charset="0"/>
                <a:cs typeface="Segoe UI" panose="020B0502040204020203" pitchFamily="34" charset="0"/>
              </a:rPr>
              <a:t>Detect additional fault types such as bearing wear, looseness, and shaft cracks. </a:t>
            </a:r>
          </a:p>
          <a:p>
            <a:pPr marL="285750" lvl="0" indent="-285750">
              <a:buFont typeface="Arial" panose="020B0604020202020204" pitchFamily="34" charset="0"/>
              <a:buChar char="•"/>
            </a:pPr>
            <a:endParaRPr lang="en-IN" sz="1900" dirty="0">
              <a:latin typeface="Segoe UI" panose="020B0502040204020203" pitchFamily="34" charset="0"/>
              <a:cs typeface="Segoe UI" panose="020B0502040204020203" pitchFamily="34" charset="0"/>
            </a:endParaRPr>
          </a:p>
          <a:p>
            <a:pPr marL="285750" lvl="0" indent="-285750">
              <a:buFont typeface="Arial" panose="020B0604020202020204" pitchFamily="34" charset="0"/>
              <a:buChar char="•"/>
            </a:pPr>
            <a:r>
              <a:rPr lang="en-IN" sz="1900" dirty="0">
                <a:latin typeface="Segoe UI" panose="020B0502040204020203" pitchFamily="34" charset="0"/>
                <a:cs typeface="Segoe UI" panose="020B0502040204020203" pitchFamily="34" charset="0"/>
              </a:rPr>
              <a:t>Integrate acoustic sensing alongside vibration analysis for improved accuracy. </a:t>
            </a:r>
          </a:p>
          <a:p>
            <a:pPr marL="285750" lvl="0" indent="-285750">
              <a:buFont typeface="Arial" panose="020B0604020202020204" pitchFamily="34" charset="0"/>
              <a:buChar char="•"/>
            </a:pPr>
            <a:endParaRPr lang="en-IN" sz="1900" dirty="0">
              <a:latin typeface="Segoe UI" panose="020B0502040204020203" pitchFamily="34" charset="0"/>
              <a:cs typeface="Segoe UI" panose="020B0502040204020203" pitchFamily="34" charset="0"/>
            </a:endParaRPr>
          </a:p>
          <a:p>
            <a:pPr marL="285750" lvl="0" indent="-285750">
              <a:buFont typeface="Arial" panose="020B0604020202020204" pitchFamily="34" charset="0"/>
              <a:buChar char="•"/>
            </a:pPr>
            <a:r>
              <a:rPr lang="en-IN" sz="1900" dirty="0">
                <a:latin typeface="Segoe UI" panose="020B0502040204020203" pitchFamily="34" charset="0"/>
                <a:cs typeface="Segoe UI" panose="020B0502040204020203" pitchFamily="34" charset="0"/>
              </a:rPr>
              <a:t>Enable wireless monitoring using BLE/Wi-Fi with a real-time dashboard.</a:t>
            </a:r>
          </a:p>
          <a:p>
            <a:pPr lvl="0"/>
            <a:r>
              <a:rPr lang="en-IN" sz="1900" dirty="0">
                <a:latin typeface="Segoe UI" panose="020B0502040204020203" pitchFamily="34" charset="0"/>
                <a:cs typeface="Segoe UI" panose="020B0502040204020203" pitchFamily="34" charset="0"/>
              </a:rPr>
              <a:t> </a:t>
            </a:r>
          </a:p>
          <a:p>
            <a:pPr marL="285750" lvl="0" indent="-285750">
              <a:buFont typeface="Arial" panose="020B0604020202020204" pitchFamily="34" charset="0"/>
              <a:buChar char="•"/>
            </a:pPr>
            <a:r>
              <a:rPr lang="en-IN" sz="1900" dirty="0">
                <a:latin typeface="Segoe UI" panose="020B0502040204020203" pitchFamily="34" charset="0"/>
                <a:cs typeface="Segoe UI" panose="020B0502040204020203" pitchFamily="34" charset="0"/>
              </a:rPr>
              <a:t>Enhance model performance using federated learning across multiple devices. </a:t>
            </a:r>
          </a:p>
          <a:p>
            <a:pPr lvl="0"/>
            <a:endParaRPr lang="en-IN" sz="1900" dirty="0">
              <a:latin typeface="Segoe UI" panose="020B0502040204020203" pitchFamily="34" charset="0"/>
              <a:cs typeface="Segoe UI" panose="020B0502040204020203" pitchFamily="34" charset="0"/>
            </a:endParaRPr>
          </a:p>
          <a:p>
            <a:pPr marL="285750" lvl="0" indent="-285750">
              <a:buFont typeface="Arial" panose="020B0604020202020204" pitchFamily="34" charset="0"/>
              <a:buChar char="•"/>
            </a:pPr>
            <a:r>
              <a:rPr lang="en-IN" sz="1900" dirty="0">
                <a:latin typeface="Segoe UI" panose="020B0502040204020203" pitchFamily="34" charset="0"/>
                <a:cs typeface="Segoe UI" panose="020B0502040204020203" pitchFamily="34" charset="0"/>
              </a:rPr>
              <a:t>Implement advanced anomaly detection to identify previously unseen faults.</a:t>
            </a:r>
          </a:p>
          <a:p>
            <a:pPr marL="285750" indent="-285750">
              <a:buFont typeface="Arial" panose="020B0604020202020204" pitchFamily="34" charset="0"/>
              <a:buChar char="•"/>
            </a:pPr>
            <a:endParaRPr lang="en-US" sz="1900" dirty="0">
              <a:latin typeface="Segoe UI" panose="020B0502040204020203" pitchFamily="34" charset="0"/>
              <a:cs typeface="Segoe UI" panose="020B0502040204020203" pitchFamily="34" charset="0"/>
            </a:endParaRPr>
          </a:p>
          <a:p>
            <a:endParaRPr lang="en-IN" dirty="0"/>
          </a:p>
        </p:txBody>
      </p:sp>
    </p:spTree>
    <p:extLst>
      <p:ext uri="{BB962C8B-B14F-4D97-AF65-F5344CB8AC3E}">
        <p14:creationId xmlns:p14="http://schemas.microsoft.com/office/powerpoint/2010/main" val="4205976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2627784" cy="620688"/>
          </a:xfrm>
          <a:prstGeom prst="rect">
            <a:avLst/>
          </a:prstGeom>
          <a:noFill/>
        </p:spPr>
        <p:txBody>
          <a:bodyPr anchor="t" anchorCtr="0">
            <a:normAutofit/>
          </a:bodyPr>
          <a:lstStyle/>
          <a:p>
            <a:r>
              <a:rPr lang="en-IN" sz="4000" b="1" dirty="0">
                <a:solidFill>
                  <a:schemeClr val="bg1"/>
                </a:solidFill>
                <a:latin typeface="+mn-lt"/>
                <a:cs typeface="Times New Roman" pitchFamily="18" charset="0"/>
              </a:rPr>
              <a:t>References</a:t>
            </a:r>
          </a:p>
        </p:txBody>
      </p:sp>
      <p:sp>
        <p:nvSpPr>
          <p:cNvPr id="3" name="TextBox 2">
            <a:extLst>
              <a:ext uri="{FF2B5EF4-FFF2-40B4-BE49-F238E27FC236}">
                <a16:creationId xmlns:a16="http://schemas.microsoft.com/office/drawing/2014/main" id="{91D60B98-EDCC-3605-2689-D0725B0FC9E9}"/>
              </a:ext>
            </a:extLst>
          </p:cNvPr>
          <p:cNvSpPr txBox="1"/>
          <p:nvPr/>
        </p:nvSpPr>
        <p:spPr>
          <a:xfrm>
            <a:off x="611560" y="476672"/>
            <a:ext cx="8424936" cy="4185761"/>
          </a:xfrm>
          <a:prstGeom prst="rect">
            <a:avLst/>
          </a:prstGeom>
          <a:noFill/>
        </p:spPr>
        <p:txBody>
          <a:bodyPr wrap="square" rtlCol="0">
            <a:spAutoFit/>
          </a:bodyPr>
          <a:lstStyle/>
          <a:p>
            <a:pPr marL="342900" indent="-342900">
              <a:buFont typeface="+mj-lt"/>
              <a:buAutoNum type="arabicPeriod"/>
            </a:pPr>
            <a:r>
              <a:rPr lang="en-IN" sz="1900" dirty="0">
                <a:latin typeface="Segoe UI" panose="020B0502040204020203" pitchFamily="34" charset="0"/>
                <a:cs typeface="Segoe UI" panose="020B0502040204020203" pitchFamily="34" charset="0"/>
              </a:rPr>
              <a:t> R. David et al., "TensorFlow Lite Micro: Embedded Machine Learning on </a:t>
            </a:r>
            <a:r>
              <a:rPr lang="en-IN" sz="1900" dirty="0" err="1">
                <a:latin typeface="Segoe UI" panose="020B0502040204020203" pitchFamily="34" charset="0"/>
                <a:cs typeface="Segoe UI" panose="020B0502040204020203" pitchFamily="34" charset="0"/>
              </a:rPr>
              <a:t>TinyML</a:t>
            </a:r>
            <a:r>
              <a:rPr lang="en-IN" sz="1900" dirty="0">
                <a:latin typeface="Segoe UI" panose="020B0502040204020203" pitchFamily="34" charset="0"/>
                <a:cs typeface="Segoe UI" panose="020B0502040204020203" pitchFamily="34" charset="0"/>
              </a:rPr>
              <a:t> Systems," in Proc. Machine Learning and Systems (</a:t>
            </a:r>
            <a:r>
              <a:rPr lang="en-IN" sz="1900" dirty="0" err="1">
                <a:latin typeface="Segoe UI" panose="020B0502040204020203" pitchFamily="34" charset="0"/>
                <a:cs typeface="Segoe UI" panose="020B0502040204020203" pitchFamily="34" charset="0"/>
              </a:rPr>
              <a:t>MLSys</a:t>
            </a:r>
            <a:r>
              <a:rPr lang="en-IN" sz="1900" dirty="0">
                <a:latin typeface="Segoe UI" panose="020B0502040204020203" pitchFamily="34" charset="0"/>
                <a:cs typeface="Segoe UI" panose="020B0502040204020203" pitchFamily="34" charset="0"/>
              </a:rPr>
              <a:t>), vol. 3, 2021, pp. 800–811.</a:t>
            </a:r>
          </a:p>
          <a:p>
            <a:pPr marL="342900" indent="-342900">
              <a:buFont typeface="+mj-lt"/>
              <a:buAutoNum type="arabicPeriod"/>
            </a:pPr>
            <a:r>
              <a:rPr lang="en-IN" sz="1900" dirty="0">
                <a:latin typeface="Segoe UI" panose="020B0502040204020203" pitchFamily="34" charset="0"/>
                <a:cs typeface="Segoe UI" panose="020B0502040204020203" pitchFamily="34" charset="0"/>
              </a:rPr>
              <a:t> J. P. B. Lima, "Real-Time Fault Detection in Induction Motors Using </a:t>
            </a:r>
            <a:r>
              <a:rPr lang="en-IN" sz="1900" dirty="0" err="1">
                <a:latin typeface="Segoe UI" panose="020B0502040204020203" pitchFamily="34" charset="0"/>
                <a:cs typeface="Segoe UI" panose="020B0502040204020203" pitchFamily="34" charset="0"/>
              </a:rPr>
              <a:t>TinyML</a:t>
            </a:r>
            <a:r>
              <a:rPr lang="en-IN" sz="1900" dirty="0">
                <a:latin typeface="Segoe UI" panose="020B0502040204020203" pitchFamily="34" charset="0"/>
                <a:cs typeface="Segoe UI" panose="020B0502040204020203" pitchFamily="34" charset="0"/>
              </a:rPr>
              <a:t>: An Evaluation of the Edge Impulse Platform," IEEE, 2025.</a:t>
            </a:r>
          </a:p>
          <a:p>
            <a:pPr marL="342900" indent="-342900">
              <a:buFont typeface="+mj-lt"/>
              <a:buAutoNum type="arabicPeriod"/>
            </a:pPr>
            <a:r>
              <a:rPr lang="en-IN" sz="1900" dirty="0">
                <a:latin typeface="Segoe UI" panose="020B0502040204020203" pitchFamily="34" charset="0"/>
                <a:cs typeface="Segoe UI" panose="020B0502040204020203" pitchFamily="34" charset="0"/>
              </a:rPr>
              <a:t>T. Jalonen, M. Al-Sa'd, S. </a:t>
            </a:r>
            <a:r>
              <a:rPr lang="en-IN" sz="1900" dirty="0" err="1">
                <a:latin typeface="Segoe UI" panose="020B0502040204020203" pitchFamily="34" charset="0"/>
                <a:cs typeface="Segoe UI" panose="020B0502040204020203" pitchFamily="34" charset="0"/>
              </a:rPr>
              <a:t>Kiranyaz</a:t>
            </a:r>
            <a:r>
              <a:rPr lang="en-IN" sz="1900" dirty="0">
                <a:latin typeface="Segoe UI" panose="020B0502040204020203" pitchFamily="34" charset="0"/>
                <a:cs typeface="Segoe UI" panose="020B0502040204020203" pitchFamily="34" charset="0"/>
              </a:rPr>
              <a:t>, and M. </a:t>
            </a:r>
            <a:r>
              <a:rPr lang="en-IN" sz="1900" dirty="0" err="1">
                <a:latin typeface="Segoe UI" panose="020B0502040204020203" pitchFamily="34" charset="0"/>
                <a:cs typeface="Segoe UI" panose="020B0502040204020203" pitchFamily="34" charset="0"/>
              </a:rPr>
              <a:t>Gabbouj</a:t>
            </a:r>
            <a:r>
              <a:rPr lang="en-IN" sz="1900" dirty="0">
                <a:latin typeface="Segoe UI" panose="020B0502040204020203" pitchFamily="34" charset="0"/>
                <a:cs typeface="Segoe UI" panose="020B0502040204020203" pitchFamily="34" charset="0"/>
              </a:rPr>
              <a:t>, "Real-Time Vibration-Based Bearing Fault Diagnosis Under Time-Varying Speed Conditions," arXiv:2311.18547, 2023.</a:t>
            </a:r>
          </a:p>
          <a:p>
            <a:pPr marL="342900" indent="-342900">
              <a:buFont typeface="+mj-lt"/>
              <a:buAutoNum type="arabicPeriod"/>
            </a:pPr>
            <a:r>
              <a:rPr lang="en-IN" sz="1900" dirty="0">
                <a:latin typeface="Segoe UI" panose="020B0502040204020203" pitchFamily="34" charset="0"/>
                <a:cs typeface="Segoe UI" panose="020B0502040204020203" pitchFamily="34" charset="0"/>
              </a:rPr>
              <a:t> N. Schizas, A. Karras, C. Karras, and S. </a:t>
            </a:r>
            <a:r>
              <a:rPr lang="en-IN" sz="1900" dirty="0" err="1">
                <a:latin typeface="Segoe UI" panose="020B0502040204020203" pitchFamily="34" charset="0"/>
                <a:cs typeface="Segoe UI" panose="020B0502040204020203" pitchFamily="34" charset="0"/>
              </a:rPr>
              <a:t>Sioutas</a:t>
            </a:r>
            <a:r>
              <a:rPr lang="en-IN" sz="1900" dirty="0">
                <a:latin typeface="Segoe UI" panose="020B0502040204020203" pitchFamily="34" charset="0"/>
                <a:cs typeface="Segoe UI" panose="020B0502040204020203" pitchFamily="34" charset="0"/>
              </a:rPr>
              <a:t>, "</a:t>
            </a:r>
            <a:r>
              <a:rPr lang="en-IN" sz="1900" dirty="0" err="1">
                <a:latin typeface="Segoe UI" panose="020B0502040204020203" pitchFamily="34" charset="0"/>
                <a:cs typeface="Segoe UI" panose="020B0502040204020203" pitchFamily="34" charset="0"/>
              </a:rPr>
              <a:t>TinyML</a:t>
            </a:r>
            <a:r>
              <a:rPr lang="en-IN" sz="1900" dirty="0">
                <a:latin typeface="Segoe UI" panose="020B0502040204020203" pitchFamily="34" charset="0"/>
                <a:cs typeface="Segoe UI" panose="020B0502040204020203" pitchFamily="34" charset="0"/>
              </a:rPr>
              <a:t> for Ultra-Low Power AI and Large Scale IoT Deployments: A Systematic Review," Future Internet, vol. 14, no. 12, p. 363, 2022.</a:t>
            </a:r>
          </a:p>
          <a:p>
            <a:pPr marL="342900" indent="-342900">
              <a:buFont typeface="+mj-lt"/>
              <a:buAutoNum type="arabicPeriod"/>
            </a:pPr>
            <a:r>
              <a:rPr lang="en-IN" sz="1900" dirty="0">
                <a:latin typeface="Segoe UI" panose="020B0502040204020203" pitchFamily="34" charset="0"/>
                <a:cs typeface="Segoe UI" panose="020B0502040204020203" pitchFamily="34" charset="0"/>
              </a:rPr>
              <a:t> S. Arciniegas, D. Rivero, J. </a:t>
            </a:r>
            <a:r>
              <a:rPr lang="en-IN" sz="1900" dirty="0" err="1">
                <a:latin typeface="Segoe UI" panose="020B0502040204020203" pitchFamily="34" charset="0"/>
                <a:cs typeface="Segoe UI" panose="020B0502040204020203" pitchFamily="34" charset="0"/>
              </a:rPr>
              <a:t>Piñan</a:t>
            </a:r>
            <a:r>
              <a:rPr lang="en-IN" sz="1900" dirty="0">
                <a:latin typeface="Segoe UI" panose="020B0502040204020203" pitchFamily="34" charset="0"/>
                <a:cs typeface="Segoe UI" panose="020B0502040204020203" pitchFamily="34" charset="0"/>
              </a:rPr>
              <a:t>, E. Diaz, and F. Rivas, "IoT Device for Detecting Abnormal Vibrations in Motors Using </a:t>
            </a:r>
            <a:r>
              <a:rPr lang="en-IN" sz="1900" dirty="0" err="1">
                <a:latin typeface="Segoe UI" panose="020B0502040204020203" pitchFamily="34" charset="0"/>
                <a:cs typeface="Segoe UI" panose="020B0502040204020203" pitchFamily="34" charset="0"/>
              </a:rPr>
              <a:t>TinyML</a:t>
            </a:r>
            <a:r>
              <a:rPr lang="en-IN" sz="1900" dirty="0">
                <a:latin typeface="Segoe UI" panose="020B0502040204020203" pitchFamily="34" charset="0"/>
                <a:cs typeface="Segoe UI" panose="020B0502040204020203" pitchFamily="34" charset="0"/>
              </a:rPr>
              <a:t>," Discover Internet of Things, vol. 5, no. 1, p. 41, 2025.</a:t>
            </a:r>
          </a:p>
        </p:txBody>
      </p:sp>
    </p:spTree>
    <p:extLst>
      <p:ext uri="{BB962C8B-B14F-4D97-AF65-F5344CB8AC3E}">
        <p14:creationId xmlns:p14="http://schemas.microsoft.com/office/powerpoint/2010/main" val="1517139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907704" y="2060849"/>
            <a:ext cx="5688632" cy="1944216"/>
          </a:xfrm>
          <a:prstGeom prst="rect">
            <a:avLst/>
          </a:prstGeom>
          <a:solidFill>
            <a:schemeClr val="accent2"/>
          </a:solidFill>
        </p:spPr>
        <p:txBody>
          <a:bodyPr anchor="ctr" anchorCtr="1">
            <a:normAutofit/>
          </a:bodyPr>
          <a:lstStyle/>
          <a:p>
            <a:pPr marL="0" indent="0" algn="ctr">
              <a:buNone/>
            </a:pPr>
            <a:r>
              <a:rPr lang="en-IN" sz="6000" b="1" dirty="0">
                <a:solidFill>
                  <a:schemeClr val="bg1"/>
                </a:solidFill>
                <a:cs typeface="Times New Roman" pitchFamily="18" charset="0"/>
              </a:rPr>
              <a:t>Thank  You!!!</a:t>
            </a:r>
          </a:p>
        </p:txBody>
      </p:sp>
    </p:spTree>
    <p:extLst>
      <p:ext uri="{BB962C8B-B14F-4D97-AF65-F5344CB8AC3E}">
        <p14:creationId xmlns:p14="http://schemas.microsoft.com/office/powerpoint/2010/main" val="275991471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3436</TotalTime>
  <Words>1110</Words>
  <Application>Microsoft Office PowerPoint</Application>
  <PresentationFormat>On-screen Show (4:3)</PresentationFormat>
  <Paragraphs>110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Algerian</vt:lpstr>
      <vt:lpstr>Arial</vt:lpstr>
      <vt:lpstr>Calibri</vt:lpstr>
      <vt:lpstr>Segoe UI</vt:lpstr>
      <vt:lpstr>Times New Roman</vt:lpstr>
      <vt:lpstr>Retrospect</vt:lpstr>
      <vt:lpstr>TSSM’s Bhivarabai  Sawant College of Engineering &amp;  Research Narhe, Pune-41</vt:lpstr>
      <vt:lpstr>Contents</vt:lpstr>
      <vt:lpstr>Introduction</vt:lpstr>
      <vt:lpstr>Problem Statement</vt:lpstr>
      <vt:lpstr>Literature Survey</vt:lpstr>
      <vt:lpstr>Motivation</vt:lpstr>
      <vt:lpstr>Objectives</vt:lpstr>
      <vt:lpstr>Methodology</vt:lpstr>
      <vt:lpstr>Methodology</vt:lpstr>
      <vt:lpstr>System Design/Architecture</vt:lpstr>
      <vt:lpstr>FLOWCHART/ALGORITHM</vt:lpstr>
      <vt:lpstr>Conclusion and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Investigation Design And Implementation Of  Wide Band Circularly Polarised Miniaturised UHF Antennas And Their Integration With Small Satellite For Space Communication</dc:title>
  <dc:creator>Prajakta</dc:creator>
  <cp:lastModifiedBy>Atharva Nhavkar</cp:lastModifiedBy>
  <cp:revision>217</cp:revision>
  <dcterms:created xsi:type="dcterms:W3CDTF">2020-12-09T19:46:17Z</dcterms:created>
  <dcterms:modified xsi:type="dcterms:W3CDTF">2026-08-05T03:57:52Z</dcterms:modified>
</cp:coreProperties>
</file>